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66" r:id="rId3"/>
    <p:sldId id="267" r:id="rId4"/>
    <p:sldId id="268" r:id="rId5"/>
    <p:sldId id="270" r:id="rId6"/>
    <p:sldId id="269" r:id="rId7"/>
    <p:sldId id="271" r:id="rId8"/>
    <p:sldId id="272" r:id="rId9"/>
  </p:sldIdLst>
  <p:sldSz cx="12193588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38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71" autoAdjust="0"/>
  </p:normalViewPr>
  <p:slideViewPr>
    <p:cSldViewPr snapToGrid="0">
      <p:cViewPr>
        <p:scale>
          <a:sx n="50" d="100"/>
          <a:sy n="50" d="100"/>
        </p:scale>
        <p:origin x="-19" y="590"/>
      </p:cViewPr>
      <p:guideLst>
        <p:guide orient="horz" pos="2161"/>
        <p:guide pos="38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17036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Tiene varias gráficas ( imágenes con animaciones de </a:t>
            </a:r>
            <a:r>
              <a:rPr lang="es-CO" dirty="0" err="1"/>
              <a:t>ppt</a:t>
            </a:r>
            <a:r>
              <a:rPr lang="es-CO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99532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Tiene varias gráficas (4 imágenes con animaciones de </a:t>
            </a:r>
            <a:r>
              <a:rPr lang="es-CO" dirty="0" err="1"/>
              <a:t>ppt</a:t>
            </a:r>
            <a:r>
              <a:rPr lang="es-CO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32362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36345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Esta diapositiva tiene animaciones, es interactiva.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60087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4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>
  <p:cSld name="Título y objetos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33" y="0"/>
            <a:ext cx="1218072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61" y="1388"/>
            <a:ext cx="12187066" cy="685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963211" y="4406902"/>
            <a:ext cx="1036455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19"/>
              <a:buFont typeface="Calibri"/>
              <a:buNone/>
              <a:defRPr sz="481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963211" y="2906715"/>
            <a:ext cx="103645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69"/>
              </a:spcBef>
              <a:spcAft>
                <a:spcPts val="0"/>
              </a:spcAft>
              <a:buClr>
                <a:srgbClr val="888888"/>
              </a:buClr>
              <a:buSzPts val="2344"/>
              <a:buFont typeface="Arial"/>
              <a:buNone/>
              <a:defRPr sz="234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43"/>
              </a:spcBef>
              <a:spcAft>
                <a:spcPts val="0"/>
              </a:spcAft>
              <a:buClr>
                <a:srgbClr val="888888"/>
              </a:buClr>
              <a:buSzPts val="2214"/>
              <a:buFont typeface="Arial"/>
              <a:buNone/>
              <a:defRPr sz="221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91"/>
              </a:spcBef>
              <a:spcAft>
                <a:spcPts val="0"/>
              </a:spcAft>
              <a:buClr>
                <a:srgbClr val="888888"/>
              </a:buClr>
              <a:buSzPts val="1954"/>
              <a:buFont typeface="Arial"/>
              <a:buNone/>
              <a:defRPr sz="195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609679" y="1600200"/>
            <a:ext cx="5385501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43674" algn="l" rtl="0"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•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0527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–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–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»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2"/>
          </p:nvPr>
        </p:nvSpPr>
        <p:spPr>
          <a:xfrm>
            <a:off x="6198409" y="1600200"/>
            <a:ext cx="5385501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43674" algn="l" rtl="0"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•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0527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–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–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»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609679" y="1535113"/>
            <a:ext cx="5387619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None/>
              <a:defRPr sz="2865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None/>
              <a:defRPr sz="234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None/>
              <a:defRPr sz="221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2"/>
          </p:nvPr>
        </p:nvSpPr>
        <p:spPr>
          <a:xfrm>
            <a:off x="609679" y="2174876"/>
            <a:ext cx="5387619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10527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–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»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2678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2678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3"/>
          </p:nvPr>
        </p:nvSpPr>
        <p:spPr>
          <a:xfrm>
            <a:off x="6194176" y="1535113"/>
            <a:ext cx="5389735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None/>
              <a:defRPr sz="2865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None/>
              <a:defRPr sz="234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None/>
              <a:defRPr sz="221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4"/>
          </p:nvPr>
        </p:nvSpPr>
        <p:spPr>
          <a:xfrm>
            <a:off x="6194176" y="2174876"/>
            <a:ext cx="538973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10527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–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»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2678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2678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609682" y="273051"/>
            <a:ext cx="4011605" cy="1162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44"/>
              <a:buFont typeface="Calibri"/>
              <a:buNone/>
              <a:defRPr sz="234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4767355" y="273051"/>
            <a:ext cx="6816554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76694" algn="l" rtl="0">
              <a:spcBef>
                <a:spcPts val="781"/>
              </a:spcBef>
              <a:spcAft>
                <a:spcPts val="0"/>
              </a:spcAft>
              <a:buClr>
                <a:schemeClr val="dk1"/>
              </a:buClr>
              <a:buSzPts val="3907"/>
              <a:buFont typeface="Arial"/>
              <a:buChar char="•"/>
              <a:defRPr sz="39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43674" algn="l" rtl="0"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–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10527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»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609682" y="1435102"/>
            <a:ext cx="4011605" cy="4691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39"/>
              </a:spcBef>
              <a:spcAft>
                <a:spcPts val="0"/>
              </a:spcAft>
              <a:buClr>
                <a:schemeClr val="dk1"/>
              </a:buClr>
              <a:buSzPts val="1693"/>
              <a:buFont typeface="Arial"/>
              <a:buNone/>
              <a:defRPr sz="16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87"/>
              </a:spcBef>
              <a:spcAft>
                <a:spcPts val="0"/>
              </a:spcAft>
              <a:buClr>
                <a:schemeClr val="dk1"/>
              </a:buClr>
              <a:buSzPts val="1433"/>
              <a:buFont typeface="Arial"/>
              <a:buNone/>
              <a:defRPr sz="14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34"/>
              </a:spcBef>
              <a:spcAft>
                <a:spcPts val="0"/>
              </a:spcAft>
              <a:buClr>
                <a:schemeClr val="dk1"/>
              </a:buClr>
              <a:buSzPts val="1172"/>
              <a:buFont typeface="Arial"/>
              <a:buNone/>
              <a:defRPr sz="117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>
            <a:spLocks noGrp="1"/>
          </p:cNvSpPr>
          <p:nvPr>
            <p:ph type="title"/>
          </p:nvPr>
        </p:nvSpPr>
        <p:spPr>
          <a:xfrm>
            <a:off x="2390029" y="4800599"/>
            <a:ext cx="7316153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44"/>
              <a:buFont typeface="Calibri"/>
              <a:buNone/>
              <a:defRPr sz="234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10"/>
          <p:cNvSpPr>
            <a:spLocks noGrp="1"/>
          </p:cNvSpPr>
          <p:nvPr>
            <p:ph type="pic" idx="2"/>
          </p:nvPr>
        </p:nvSpPr>
        <p:spPr>
          <a:xfrm>
            <a:off x="2390029" y="612777"/>
            <a:ext cx="7316153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54" name="Google Shape;54;p10"/>
          <p:cNvSpPr txBox="1">
            <a:spLocks noGrp="1"/>
          </p:cNvSpPr>
          <p:nvPr>
            <p:ph type="body" idx="1"/>
          </p:nvPr>
        </p:nvSpPr>
        <p:spPr>
          <a:xfrm>
            <a:off x="2390029" y="5367339"/>
            <a:ext cx="7316153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39"/>
              </a:spcBef>
              <a:spcAft>
                <a:spcPts val="0"/>
              </a:spcAft>
              <a:buClr>
                <a:schemeClr val="dk1"/>
              </a:buClr>
              <a:buSzPts val="1693"/>
              <a:buFont typeface="Arial"/>
              <a:buNone/>
              <a:defRPr sz="16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87"/>
              </a:spcBef>
              <a:spcAft>
                <a:spcPts val="0"/>
              </a:spcAft>
              <a:buClr>
                <a:schemeClr val="dk1"/>
              </a:buClr>
              <a:buSzPts val="1433"/>
              <a:buFont typeface="Arial"/>
              <a:buNone/>
              <a:defRPr sz="14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34"/>
              </a:spcBef>
              <a:spcAft>
                <a:spcPts val="0"/>
              </a:spcAft>
              <a:buClr>
                <a:schemeClr val="dk1"/>
              </a:buClr>
              <a:buSzPts val="1172"/>
              <a:buFont typeface="Arial"/>
              <a:buNone/>
              <a:defRPr sz="117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 rot="5400000">
            <a:off x="3833815" y="-1623933"/>
            <a:ext cx="4525963" cy="10974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76694" algn="l" rtl="0">
              <a:spcBef>
                <a:spcPts val="781"/>
              </a:spcBef>
              <a:spcAft>
                <a:spcPts val="0"/>
              </a:spcAft>
              <a:buClr>
                <a:schemeClr val="dk1"/>
              </a:buClr>
              <a:buSzPts val="3907"/>
              <a:buFont typeface="Arial"/>
              <a:buChar char="•"/>
              <a:defRPr sz="39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43674" algn="l" rtl="0"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–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10527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»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>
            <a:spLocks noGrp="1"/>
          </p:cNvSpPr>
          <p:nvPr>
            <p:ph type="title"/>
          </p:nvPr>
        </p:nvSpPr>
        <p:spPr>
          <a:xfrm rot="5400000">
            <a:off x="7286368" y="1828622"/>
            <a:ext cx="5851525" cy="274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body" idx="1"/>
          </p:nvPr>
        </p:nvSpPr>
        <p:spPr>
          <a:xfrm rot="5400000">
            <a:off x="1697641" y="-813323"/>
            <a:ext cx="5851525" cy="8027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76694" algn="l" rtl="0">
              <a:spcBef>
                <a:spcPts val="781"/>
              </a:spcBef>
              <a:spcAft>
                <a:spcPts val="0"/>
              </a:spcAft>
              <a:buClr>
                <a:schemeClr val="dk1"/>
              </a:buClr>
              <a:buSzPts val="3907"/>
              <a:buFont typeface="Arial"/>
              <a:buChar char="•"/>
              <a:defRPr sz="39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43674" algn="l" rtl="0"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–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10527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»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261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33" y="3172"/>
            <a:ext cx="12180722" cy="68516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13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16316C3-AA13-32F1-283A-AC8F66B2D752}"/>
              </a:ext>
            </a:extLst>
          </p:cNvPr>
          <p:cNvSpPr txBox="1"/>
          <p:nvPr/>
        </p:nvSpPr>
        <p:spPr>
          <a:xfrm>
            <a:off x="5353812" y="623352"/>
            <a:ext cx="60990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_tradnl" sz="24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F1DC52B-9F3B-1CC7-B727-3CB12E83F683}"/>
              </a:ext>
            </a:extLst>
          </p:cNvPr>
          <p:cNvSpPr txBox="1"/>
          <p:nvPr/>
        </p:nvSpPr>
        <p:spPr>
          <a:xfrm>
            <a:off x="5353812" y="210312"/>
            <a:ext cx="6716268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2400" b="1" dirty="0"/>
              <a:t>Título:</a:t>
            </a:r>
            <a:br>
              <a:rPr lang="es-ES" sz="2400" dirty="0"/>
            </a:br>
            <a:r>
              <a:rPr lang="es-ES" sz="2400" b="1" dirty="0"/>
              <a:t>Minería de Datos – Predicción de Ingresos con Regresión Logística</a:t>
            </a:r>
            <a:endParaRPr lang="es-ES" sz="2400" dirty="0"/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r>
              <a:rPr lang="es-ES" sz="2400" b="1" dirty="0"/>
              <a:t>Integrante:</a:t>
            </a:r>
          </a:p>
          <a:p>
            <a:pPr>
              <a:buNone/>
            </a:pPr>
            <a:r>
              <a:rPr lang="es-ES" sz="2400" dirty="0" err="1"/>
              <a:t>Wilkyn</a:t>
            </a:r>
            <a:r>
              <a:rPr lang="es-ES" sz="2400" dirty="0"/>
              <a:t> Julián Vargas Bahamón</a:t>
            </a:r>
            <a:br>
              <a:rPr lang="es-ES" sz="2400" dirty="0"/>
            </a:br>
            <a:r>
              <a:rPr lang="es-ES" sz="2400" dirty="0"/>
              <a:t>Johan Ariel </a:t>
            </a:r>
            <a:r>
              <a:rPr lang="es-ES" sz="2400" dirty="0" err="1"/>
              <a:t>Verjan</a:t>
            </a:r>
            <a:r>
              <a:rPr lang="es-ES" sz="2400" dirty="0"/>
              <a:t> Carrillo</a:t>
            </a:r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r>
              <a:rPr lang="es-ES" sz="2400" b="1" dirty="0"/>
              <a:t>Asignatura:</a:t>
            </a:r>
            <a:br>
              <a:rPr lang="es-ES" sz="2400" dirty="0"/>
            </a:br>
            <a:r>
              <a:rPr lang="es-ES" sz="2400" dirty="0"/>
              <a:t>Minería de Datos</a:t>
            </a:r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endParaRPr lang="es-ES" sz="2400" b="1" dirty="0"/>
          </a:p>
          <a:p>
            <a:pPr>
              <a:buNone/>
            </a:pPr>
            <a:r>
              <a:rPr lang="es-ES" sz="2400" b="1" dirty="0"/>
              <a:t>Docente:</a:t>
            </a:r>
            <a:br>
              <a:rPr lang="es-ES" sz="2400" dirty="0"/>
            </a:br>
            <a:r>
              <a:rPr lang="es-ES_tradnl" sz="2400" dirty="0"/>
              <a:t>JULIAN ANDRES QUIMBAYO CASTRO</a:t>
            </a:r>
            <a:endParaRPr lang="es-ES" sz="2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FBB122E-1092-E1C4-AEBC-F2E7C16AC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1700213"/>
            <a:ext cx="3075557" cy="17287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4049A17-43B8-F29F-44C2-88608D742569}"/>
              </a:ext>
            </a:extLst>
          </p:cNvPr>
          <p:cNvSpPr txBox="1"/>
          <p:nvPr/>
        </p:nvSpPr>
        <p:spPr>
          <a:xfrm>
            <a:off x="334296" y="442452"/>
            <a:ext cx="79641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spc="50" dirty="0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¿Cómo influyen la edad, el nivel educativo y el sexo biológico en la probabilidad de que una persona alcance ingresos superiores a 50 000 USD al año?</a:t>
            </a:r>
            <a:r>
              <a:rPr lang="es-CO" sz="2400" b="1" spc="50" dirty="0">
                <a:ln w="0"/>
                <a:solidFill>
                  <a:schemeClr val="tx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48716EE-C645-41A4-15AF-C0AA78255459}"/>
              </a:ext>
            </a:extLst>
          </p:cNvPr>
          <p:cNvSpPr/>
          <p:nvPr/>
        </p:nvSpPr>
        <p:spPr>
          <a:xfrm>
            <a:off x="7187380" y="4129547"/>
            <a:ext cx="4729316" cy="1936955"/>
          </a:xfrm>
          <a:prstGeom prst="rect">
            <a:avLst/>
          </a:prstGeom>
          <a:ln w="571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800" dirty="0"/>
              <a:t>Determinar el impacto de variables sociodemográficas en la probabilidad de obtener ingresos altos, mediante técnicas de minería de datos y modelos de regresión lineal</a:t>
            </a:r>
            <a:r>
              <a:rPr lang="es-ES" sz="2000" dirty="0"/>
              <a:t>.</a:t>
            </a:r>
            <a:endParaRPr lang="es-CO" sz="2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6823819-DFBB-BB91-9FCD-035EA07FC8F9}"/>
              </a:ext>
            </a:extLst>
          </p:cNvPr>
          <p:cNvSpPr txBox="1"/>
          <p:nvPr/>
        </p:nvSpPr>
        <p:spPr>
          <a:xfrm>
            <a:off x="7875639" y="3616782"/>
            <a:ext cx="3500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>
                <a:solidFill>
                  <a:schemeClr val="accent5">
                    <a:lumMod val="75000"/>
                  </a:schemeClr>
                </a:solidFill>
              </a:rPr>
              <a:t>OBJETIVO</a:t>
            </a:r>
          </a:p>
        </p:txBody>
      </p:sp>
      <p:pic>
        <p:nvPicPr>
          <p:cNvPr id="1026" name="Picture 2" descr="La edad - Iconos gratis de diverso">
            <a:extLst>
              <a:ext uri="{FF2B5EF4-FFF2-40B4-BE49-F238E27FC236}">
                <a16:creationId xmlns:a16="http://schemas.microsoft.com/office/drawing/2014/main" id="{CEF96113-D78D-DC56-5A44-23659C307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194" y="4193309"/>
            <a:ext cx="1569661" cy="1569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ducación - Iconos gratis de educación">
            <a:extLst>
              <a:ext uri="{FF2B5EF4-FFF2-40B4-BE49-F238E27FC236}">
                <a16:creationId xmlns:a16="http://schemas.microsoft.com/office/drawing/2014/main" id="{DB7BCC1A-46E4-EBDA-BC53-05C7ADE97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4357" y="2037234"/>
            <a:ext cx="1659822" cy="1659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D88FA55-866F-47AC-3B0B-CE6CF62BBEA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551" b="89888" l="5526" r="90526">
                        <a14:foregroundMark x1="89737" y1="36517" x2="90000" y2="29213"/>
                        <a14:foregroundMark x1="89737" y1="31742" x2="90789" y2="41011"/>
                        <a14:foregroundMark x1="24211" y1="73876" x2="23158" y2="58708"/>
                        <a14:foregroundMark x1="19194" y1="28774" x2="21316" y2="27528"/>
                        <a14:foregroundMark x1="15017" y1="31226" x2="16908" y2="30116"/>
                        <a14:foregroundMark x1="5526" y1="36798" x2="14288" y2="31654"/>
                        <a14:backgroundMark x1="16316" y1="41854" x2="16316" y2="41854"/>
                        <a14:backgroundMark x1="16316" y1="39607" x2="15526" y2="32865"/>
                        <a14:backgroundMark x1="13158" y1="37640" x2="18158" y2="3146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16360" y="3990855"/>
            <a:ext cx="2107685" cy="1974568"/>
          </a:xfrm>
          <a:prstGeom prst="rect">
            <a:avLst/>
          </a:prstGeom>
        </p:spPr>
      </p:pic>
      <p:sp>
        <p:nvSpPr>
          <p:cNvPr id="9" name="Flecha: curvada hacia la derecha 8">
            <a:extLst>
              <a:ext uri="{FF2B5EF4-FFF2-40B4-BE49-F238E27FC236}">
                <a16:creationId xmlns:a16="http://schemas.microsoft.com/office/drawing/2014/main" id="{75BCC112-37E2-1909-22B9-9D9DB1C9F356}"/>
              </a:ext>
            </a:extLst>
          </p:cNvPr>
          <p:cNvSpPr/>
          <p:nvPr/>
        </p:nvSpPr>
        <p:spPr>
          <a:xfrm rot="3012188">
            <a:off x="1096463" y="1843529"/>
            <a:ext cx="973393" cy="2315911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10" name="Flecha: curvada hacia la derecha 9">
            <a:extLst>
              <a:ext uri="{FF2B5EF4-FFF2-40B4-BE49-F238E27FC236}">
                <a16:creationId xmlns:a16="http://schemas.microsoft.com/office/drawing/2014/main" id="{7969C81A-2BBB-94FC-C308-7493AE54859B}"/>
              </a:ext>
            </a:extLst>
          </p:cNvPr>
          <p:cNvSpPr/>
          <p:nvPr/>
        </p:nvSpPr>
        <p:spPr>
          <a:xfrm rot="16200000">
            <a:off x="2880855" y="4670140"/>
            <a:ext cx="973393" cy="2315911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12" name="Flecha: curvada hacia la izquierda 11">
            <a:extLst>
              <a:ext uri="{FF2B5EF4-FFF2-40B4-BE49-F238E27FC236}">
                <a16:creationId xmlns:a16="http://schemas.microsoft.com/office/drawing/2014/main" id="{D592D6A5-1C08-F2FD-6503-3DFEB7C29BCC}"/>
              </a:ext>
            </a:extLst>
          </p:cNvPr>
          <p:cNvSpPr/>
          <p:nvPr/>
        </p:nvSpPr>
        <p:spPr>
          <a:xfrm rot="20326474">
            <a:off x="4957746" y="2278626"/>
            <a:ext cx="1027808" cy="230074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pic>
        <p:nvPicPr>
          <p:cNvPr id="1034" name="Picture 10" descr="Icono de signo de dólar, signo de dólar, texto, marca, logo png | PNGWing">
            <a:extLst>
              <a:ext uri="{FF2B5EF4-FFF2-40B4-BE49-F238E27FC236}">
                <a16:creationId xmlns:a16="http://schemas.microsoft.com/office/drawing/2014/main" id="{E6516047-6C01-6208-E8F3-14C4507FA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587" b="95000" l="3696" r="96739">
                        <a14:foregroundMark x1="53261" y1="5000" x2="71413" y2="10217"/>
                        <a14:foregroundMark x1="71413" y1="10217" x2="71196" y2="10000"/>
                        <a14:foregroundMark x1="74130" y1="11522" x2="60000" y2="7609"/>
                        <a14:foregroundMark x1="67391" y1="11848" x2="74891" y2="12391"/>
                        <a14:foregroundMark x1="74891" y1="12391" x2="77391" y2="13804"/>
                        <a14:foregroundMark x1="60414" y1="9888" x2="46630" y2="4130"/>
                        <a14:foregroundMark x1="82283" y1="19022" x2="70742" y2="14201"/>
                        <a14:foregroundMark x1="46630" y1="4130" x2="46087" y2="3587"/>
                        <a14:foregroundMark x1="78913" y1="13913" x2="70000" y2="8696"/>
                        <a14:foregroundMark x1="70000" y1="8696" x2="42391" y2="5543"/>
                        <a14:foregroundMark x1="42391" y1="5543" x2="17174" y2="17391"/>
                        <a14:foregroundMark x1="17174" y1="17391" x2="5870" y2="30543"/>
                        <a14:foregroundMark x1="5870" y1="30543" x2="3804" y2="40761"/>
                        <a14:foregroundMark x1="3804" y1="40761" x2="3696" y2="40978"/>
                        <a14:foregroundMark x1="4565" y1="47609" x2="10543" y2="77391"/>
                        <a14:foregroundMark x1="10543" y1="77391" x2="24565" y2="89348"/>
                        <a14:foregroundMark x1="24565" y1="89348" x2="45978" y2="95109"/>
                        <a14:foregroundMark x1="45978" y1="95109" x2="65109" y2="92283"/>
                        <a14:foregroundMark x1="65109" y1="92283" x2="78261" y2="85000"/>
                        <a14:foregroundMark x1="78261" y1="85000" x2="86304" y2="76739"/>
                        <a14:foregroundMark x1="86304" y1="76739" x2="91957" y2="65761"/>
                        <a14:foregroundMark x1="91957" y1="65761" x2="94891" y2="45435"/>
                        <a14:foregroundMark x1="94891" y1="45435" x2="93696" y2="37935"/>
                        <a14:foregroundMark x1="93696" y1="37935" x2="90326" y2="30435"/>
                        <a14:foregroundMark x1="90326" y1="30435" x2="79565" y2="16630"/>
                        <a14:foregroundMark x1="88152" y1="23478" x2="91739" y2="31739"/>
                        <a14:foregroundMark x1="91739" y1="31739" x2="92826" y2="72609"/>
                        <a14:foregroundMark x1="92826" y1="72609" x2="78261" y2="88913"/>
                        <a14:foregroundMark x1="78261" y1="88913" x2="52609" y2="98804"/>
                        <a14:foregroundMark x1="52609" y1="98804" x2="28913" y2="95000"/>
                        <a14:foregroundMark x1="28913" y1="95000" x2="15870" y2="78152"/>
                        <a14:foregroundMark x1="89022" y1="25761" x2="92391" y2="31957"/>
                        <a14:foregroundMark x1="92391" y1="31957" x2="96196" y2="57174"/>
                        <a14:foregroundMark x1="96413" y1="49783" x2="95978" y2="53370"/>
                        <a14:foregroundMark x1="96413" y1="45543" x2="96739" y2="53804"/>
                        <a14:foregroundMark x1="57717" y1="32935" x2="44565" y2="33370"/>
                        <a14:foregroundMark x1="44565" y1="33370" x2="41630" y2="39783"/>
                        <a14:foregroundMark x1="41630" y1="39783" x2="51413" y2="49130"/>
                        <a14:foregroundMark x1="51413" y1="49130" x2="60543" y2="54022"/>
                        <a14:foregroundMark x1="60543" y1="54022" x2="60761" y2="62391"/>
                        <a14:foregroundMark x1="60761" y1="62391" x2="51739" y2="68370"/>
                        <a14:foregroundMark x1="51739" y1="68370" x2="43370" y2="66957"/>
                        <a14:foregroundMark x1="50978" y1="72283" x2="43261" y2="66739"/>
                        <a14:foregroundMark x1="43261" y1="66739" x2="40543" y2="66196"/>
                        <a14:foregroundMark x1="51630" y1="48696" x2="41957" y2="41522"/>
                        <a14:foregroundMark x1="41957" y1="41522" x2="45217" y2="33913"/>
                        <a14:foregroundMark x1="45217" y1="33913" x2="51848" y2="25761"/>
                        <a14:foregroundMark x1="51848" y1="25761" x2="53478" y2="33696"/>
                        <a14:foregroundMark x1="53478" y1="33696" x2="58696" y2="33370"/>
                        <a14:backgroundMark x1="22935" y1="36413" x2="15978" y2="51087"/>
                        <a14:backgroundMark x1="15978" y1="51087" x2="23261" y2="42391"/>
                        <a14:backgroundMark x1="23261" y1="42391" x2="23804" y2="42174"/>
                        <a14:backgroundMark x1="51304" y1="14891" x2="61087" y2="15761"/>
                        <a14:backgroundMark x1="61087" y1="15761" x2="65435" y2="17391"/>
                        <a14:backgroundMark x1="71957" y1="16630" x2="64239" y2="14022"/>
                        <a14:backgroundMark x1="62283" y1="13043" x2="68913" y2="14891"/>
                        <a14:backgroundMark x1="71413" y1="15435" x2="59565" y2="12174"/>
                        <a14:backgroundMark x1="65000" y1="13804" x2="61304" y2="11739"/>
                        <a14:backgroundMark x1="63804" y1="12500" x2="60652" y2="11630"/>
                        <a14:backgroundMark x1="65652" y1="12717" x2="63587" y2="118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9460" y="3816837"/>
            <a:ext cx="1396181" cy="1396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405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16929C0-B3A1-02DA-E7B8-E1236BEFB69E}"/>
              </a:ext>
            </a:extLst>
          </p:cNvPr>
          <p:cNvSpPr txBox="1"/>
          <p:nvPr/>
        </p:nvSpPr>
        <p:spPr>
          <a:xfrm>
            <a:off x="2165684" y="201288"/>
            <a:ext cx="70745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ANÁLISIS DEL DATASET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04B5769-3AAA-8598-543F-63E5B5BD0A92}"/>
              </a:ext>
            </a:extLst>
          </p:cNvPr>
          <p:cNvSpPr/>
          <p:nvPr/>
        </p:nvSpPr>
        <p:spPr>
          <a:xfrm>
            <a:off x="940622" y="1207476"/>
            <a:ext cx="2450123" cy="584775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000" dirty="0"/>
              <a:t>DATASET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0DDB0B8-CC9B-2831-FA7D-487D11F786A9}"/>
              </a:ext>
            </a:extLst>
          </p:cNvPr>
          <p:cNvSpPr/>
          <p:nvPr/>
        </p:nvSpPr>
        <p:spPr>
          <a:xfrm>
            <a:off x="4003122" y="1207475"/>
            <a:ext cx="3399692" cy="584775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400" dirty="0"/>
              <a:t>LIMPIEZA APLICADA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7E4CEA5-24E4-4C8C-9FC4-F594223440B3}"/>
              </a:ext>
            </a:extLst>
          </p:cNvPr>
          <p:cNvSpPr/>
          <p:nvPr/>
        </p:nvSpPr>
        <p:spPr>
          <a:xfrm>
            <a:off x="8015191" y="1207476"/>
            <a:ext cx="3872010" cy="584775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000" dirty="0"/>
              <a:t>PREPARACIÓN PARA EL MODELO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3691037-51ED-7725-D28E-203A33EE482B}"/>
              </a:ext>
            </a:extLst>
          </p:cNvPr>
          <p:cNvSpPr txBox="1"/>
          <p:nvPr/>
        </p:nvSpPr>
        <p:spPr>
          <a:xfrm>
            <a:off x="940622" y="2213664"/>
            <a:ext cx="245012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 err="1"/>
              <a:t>Adult</a:t>
            </a:r>
            <a:r>
              <a:rPr lang="es-ES" sz="2000" b="1" dirty="0"/>
              <a:t> </a:t>
            </a:r>
            <a:r>
              <a:rPr lang="es-ES" sz="2000" b="1" dirty="0" err="1"/>
              <a:t>Income</a:t>
            </a:r>
            <a:r>
              <a:rPr lang="es-ES" sz="2000" dirty="0"/>
              <a:t>, con 32 561 registros y 15 variables socioeconómicas</a:t>
            </a:r>
            <a:endParaRPr lang="es-CO" sz="20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D2966771-3CA9-5F22-FB9B-482AB0246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304" y="1979200"/>
            <a:ext cx="2580757" cy="4104033"/>
          </a:xfrm>
          <a:prstGeom prst="rect">
            <a:avLst/>
          </a:prstGeom>
        </p:spPr>
      </p:pic>
      <p:sp>
        <p:nvSpPr>
          <p:cNvPr id="19" name="Rectangle 2">
            <a:extLst>
              <a:ext uri="{FF2B5EF4-FFF2-40B4-BE49-F238E27FC236}">
                <a16:creationId xmlns:a16="http://schemas.microsoft.com/office/drawing/2014/main" id="{A45A9DF0-1ECD-787E-7A1E-95FFAA480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122" y="2151727"/>
            <a:ext cx="317078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Eliminación de espacios en blanco.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Conversión de “?” a NaN.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Eliminación de filas con valores faltantes.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Traducción de todas las categorías al español.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81A7C392-7D81-862D-5600-BA0DF3A9E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8965" y="2213664"/>
            <a:ext cx="404446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Aplicación de </a:t>
            </a: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-Hot </a:t>
            </a: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Encoding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transformar categorías en columnas binarias (necesario para regresión lineal).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Normalización con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MinMaxScaler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llevar variables numéricas al rango 0–1.</a:t>
            </a:r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7833B960-020D-E703-190B-F8E8500DFE7A}"/>
              </a:ext>
            </a:extLst>
          </p:cNvPr>
          <p:cNvGrpSpPr/>
          <p:nvPr/>
        </p:nvGrpSpPr>
        <p:grpSpPr>
          <a:xfrm>
            <a:off x="3924744" y="1979200"/>
            <a:ext cx="7884079" cy="4104033"/>
            <a:chOff x="4003121" y="1979200"/>
            <a:chExt cx="7884079" cy="4104033"/>
          </a:xfrm>
        </p:grpSpPr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8966617D-07AF-B4C8-92C0-0FE7AAA1186A}"/>
                </a:ext>
              </a:extLst>
            </p:cNvPr>
            <p:cNvSpPr/>
            <p:nvPr/>
          </p:nvSpPr>
          <p:spPr>
            <a:xfrm>
              <a:off x="4003121" y="1979200"/>
              <a:ext cx="7884079" cy="4104033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FCDF0987-9540-74F9-9962-DCBC405B8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83793" y="2183291"/>
              <a:ext cx="5662795" cy="3695850"/>
            </a:xfrm>
            <a:prstGeom prst="rect">
              <a:avLst/>
            </a:prstGeom>
          </p:spPr>
        </p:pic>
      </p:grpSp>
      <p:sp>
        <p:nvSpPr>
          <p:cNvPr id="25" name="Elipse 24">
            <a:extLst>
              <a:ext uri="{FF2B5EF4-FFF2-40B4-BE49-F238E27FC236}">
                <a16:creationId xmlns:a16="http://schemas.microsoft.com/office/drawing/2014/main" id="{FD8550AD-6BF7-BB10-0837-2334C02D427D}"/>
              </a:ext>
            </a:extLst>
          </p:cNvPr>
          <p:cNvSpPr/>
          <p:nvPr/>
        </p:nvSpPr>
        <p:spPr>
          <a:xfrm>
            <a:off x="4003121" y="6482152"/>
            <a:ext cx="365760" cy="34912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055" name="Picture 7" descr="Clic Con El Dedo, Icono De La Mano. Vector Símbolo Aislado Sobre Fondo  Blanco. Ilustraciones svg, vectoriales, clip art vectorizado libre de  derechos. Image 98577821">
            <a:extLst>
              <a:ext uri="{FF2B5EF4-FFF2-40B4-BE49-F238E27FC236}">
                <a16:creationId xmlns:a16="http://schemas.microsoft.com/office/drawing/2014/main" id="{51F185AB-C9D2-8916-8225-1FAB6CEDD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839" y="1449059"/>
            <a:ext cx="647373" cy="647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7" descr="Clic Con El Dedo, Icono De La Mano. Vector Símbolo Aislado Sobre Fondo  Blanco. Ilustraciones svg, vectoriales, clip art vectorizado libre de  derechos. Image 98577821">
            <a:extLst>
              <a:ext uri="{FF2B5EF4-FFF2-40B4-BE49-F238E27FC236}">
                <a16:creationId xmlns:a16="http://schemas.microsoft.com/office/drawing/2014/main" id="{BC47598B-6DA3-9400-3224-030001896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9433" y="1468563"/>
            <a:ext cx="647373" cy="647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6855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1E8AD-8467-2D0D-3AD6-CCDB06B27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088E8C8-AA0E-F9DE-D399-BEFC231780A5}"/>
              </a:ext>
            </a:extLst>
          </p:cNvPr>
          <p:cNvSpPr txBox="1"/>
          <p:nvPr/>
        </p:nvSpPr>
        <p:spPr>
          <a:xfrm>
            <a:off x="2165684" y="201288"/>
            <a:ext cx="70745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Visualizaciones Gráficas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CE8CC06-3388-5688-A8EB-D8CE65F6C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925" y="912848"/>
            <a:ext cx="10825978" cy="540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2594E401-FCE1-AA4F-B0BD-6F00BB487341}"/>
              </a:ext>
            </a:extLst>
          </p:cNvPr>
          <p:cNvSpPr/>
          <p:nvPr/>
        </p:nvSpPr>
        <p:spPr>
          <a:xfrm>
            <a:off x="5548154" y="6482152"/>
            <a:ext cx="365760" cy="34912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85A148EB-2EEF-EDDF-03DD-89A37912845D}"/>
              </a:ext>
            </a:extLst>
          </p:cNvPr>
          <p:cNvGrpSpPr/>
          <p:nvPr/>
        </p:nvGrpSpPr>
        <p:grpSpPr>
          <a:xfrm>
            <a:off x="12805" y="900992"/>
            <a:ext cx="12180783" cy="5401009"/>
            <a:chOff x="-4803035" y="-278969"/>
            <a:chExt cx="12180783" cy="5401009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C5DB9128-BAFB-A8FA-C9FE-D5E083BD7495}"/>
                </a:ext>
              </a:extLst>
            </p:cNvPr>
            <p:cNvSpPr/>
            <p:nvPr/>
          </p:nvSpPr>
          <p:spPr>
            <a:xfrm>
              <a:off x="-4803035" y="-278969"/>
              <a:ext cx="12180783" cy="5401009"/>
            </a:xfrm>
            <a:prstGeom prst="rect">
              <a:avLst/>
            </a:prstGeom>
            <a:solidFill>
              <a:schemeClr val="accent4">
                <a:shade val="30000"/>
                <a:satMod val="11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5" name="Picture 6">
              <a:extLst>
                <a:ext uri="{FF2B5EF4-FFF2-40B4-BE49-F238E27FC236}">
                  <a16:creationId xmlns:a16="http://schemas.microsoft.com/office/drawing/2014/main" id="{7661A855-3654-6DB9-23B5-C67F9AF3EE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4214" y="-49111"/>
              <a:ext cx="6090355" cy="47756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FFC2098E-B328-D35D-1A2F-6E38A627A0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4734122" y="-49111"/>
              <a:ext cx="5735157" cy="47756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78484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FDD7E-8898-7EDC-3E0B-F6C10693E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CD4CAB7-3FB1-DFC5-21C0-1C5324C2CE2E}"/>
              </a:ext>
            </a:extLst>
          </p:cNvPr>
          <p:cNvSpPr txBox="1"/>
          <p:nvPr/>
        </p:nvSpPr>
        <p:spPr>
          <a:xfrm>
            <a:off x="2165684" y="201288"/>
            <a:ext cx="70745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Visualizaciones Gráficas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092A15D-1790-EFF2-6478-D161D4465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609" y="1056249"/>
            <a:ext cx="7948717" cy="4745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A5786D8-499B-D099-05DF-6322CFE92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610" y="1018946"/>
            <a:ext cx="7948716" cy="4820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ADCB0FB-9BA0-0922-57E8-CA144E34C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3524" y="1056249"/>
            <a:ext cx="8691454" cy="4946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55C92FE2-3F8C-1E0E-CDE0-A064C6500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517" y="918980"/>
            <a:ext cx="10522554" cy="5221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272CA0ED-BD6F-A733-7936-BA051E51F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359" y="973594"/>
            <a:ext cx="10631711" cy="5319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5564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1B36B38-19B4-7CC9-62CF-CE84451AF24D}"/>
              </a:ext>
            </a:extLst>
          </p:cNvPr>
          <p:cNvSpPr txBox="1"/>
          <p:nvPr/>
        </p:nvSpPr>
        <p:spPr>
          <a:xfrm>
            <a:off x="2165684" y="201288"/>
            <a:ext cx="70745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Características Encontradas en el Proceso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B403EAE-1BC7-DAA3-F879-19E7E3765343}"/>
              </a:ext>
            </a:extLst>
          </p:cNvPr>
          <p:cNvSpPr/>
          <p:nvPr/>
        </p:nvSpPr>
        <p:spPr>
          <a:xfrm>
            <a:off x="350520" y="1859280"/>
            <a:ext cx="2026920" cy="685800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000" dirty="0"/>
              <a:t>Patrones identificados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7735A90-D46F-F106-C8CE-11DFFBDC6A04}"/>
              </a:ext>
            </a:extLst>
          </p:cNvPr>
          <p:cNvSpPr/>
          <p:nvPr/>
        </p:nvSpPr>
        <p:spPr>
          <a:xfrm>
            <a:off x="3553021" y="1859280"/>
            <a:ext cx="2026920" cy="685800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000" dirty="0"/>
              <a:t>Correlaciones Importantes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3912B3-0EC2-23A5-1D2B-FF02E2555869}"/>
              </a:ext>
            </a:extLst>
          </p:cNvPr>
          <p:cNvSpPr/>
          <p:nvPr/>
        </p:nvSpPr>
        <p:spPr>
          <a:xfrm>
            <a:off x="6656289" y="1897195"/>
            <a:ext cx="2026920" cy="685800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000" dirty="0"/>
              <a:t>Distribuciones relevantes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D508495-1720-A665-AF81-BF74342EBF32}"/>
              </a:ext>
            </a:extLst>
          </p:cNvPr>
          <p:cNvSpPr/>
          <p:nvPr/>
        </p:nvSpPr>
        <p:spPr>
          <a:xfrm>
            <a:off x="9593454" y="1897195"/>
            <a:ext cx="2026920" cy="685800"/>
          </a:xfrm>
          <a:prstGeom prst="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000" dirty="0"/>
              <a:t>Outliers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8007EA3-EE61-7F8A-2C75-371D74382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513" y="2797678"/>
            <a:ext cx="280091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Mayor educación y experiencia → mayor probabilidad de ingresos altos.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 ocupaciones manuales o de servicio concentran salarios bajos.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Existe una brecha salarial por sexo.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75B1B0F-B6C4-87F7-5058-535F63A1726E}"/>
              </a:ext>
            </a:extLst>
          </p:cNvPr>
          <p:cNvSpPr txBox="1"/>
          <p:nvPr/>
        </p:nvSpPr>
        <p:spPr>
          <a:xfrm>
            <a:off x="6656290" y="2797678"/>
            <a:ext cx="20269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800" dirty="0" err="1"/>
              <a:t>Ganancia_Capital</a:t>
            </a:r>
            <a:r>
              <a:rPr lang="es-ES" sz="1800" dirty="0"/>
              <a:t> presenta valores extremos, pero representan casos reales del </a:t>
            </a:r>
            <a:r>
              <a:rPr lang="es-ES" sz="1800" dirty="0" err="1"/>
              <a:t>dataset</a:t>
            </a:r>
            <a:r>
              <a:rPr lang="es-ES" sz="1800" dirty="0"/>
              <a:t>.</a:t>
            </a:r>
            <a:endParaRPr lang="es-CO" sz="18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7DB9448-49F5-D823-837E-C7B9AE273B38}"/>
              </a:ext>
            </a:extLst>
          </p:cNvPr>
          <p:cNvSpPr txBox="1"/>
          <p:nvPr/>
        </p:nvSpPr>
        <p:spPr>
          <a:xfrm>
            <a:off x="9516051" y="2797678"/>
            <a:ext cx="21817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800" dirty="0"/>
              <a:t>Grandes diferencias en horas trabajadas, ingresos de capital y edades</a:t>
            </a:r>
            <a:endParaRPr lang="es-CO" sz="1800" dirty="0"/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E88715B8-7259-24FE-8D75-F3BEEFDCA8F3}"/>
              </a:ext>
            </a:extLst>
          </p:cNvPr>
          <p:cNvGrpSpPr/>
          <p:nvPr/>
        </p:nvGrpSpPr>
        <p:grpSpPr>
          <a:xfrm>
            <a:off x="172404" y="1278506"/>
            <a:ext cx="11848780" cy="5026041"/>
            <a:chOff x="172404" y="1278506"/>
            <a:chExt cx="11848780" cy="5026041"/>
          </a:xfrm>
        </p:grpSpPr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9FA4C327-6FFB-C493-98CC-2F0F5D167CC9}"/>
                </a:ext>
              </a:extLst>
            </p:cNvPr>
            <p:cNvSpPr/>
            <p:nvPr/>
          </p:nvSpPr>
          <p:spPr>
            <a:xfrm>
              <a:off x="172404" y="1278506"/>
              <a:ext cx="11848780" cy="502604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3078" name="Picture 6">
              <a:extLst>
                <a:ext uri="{FF2B5EF4-FFF2-40B4-BE49-F238E27FC236}">
                  <a16:creationId xmlns:a16="http://schemas.microsoft.com/office/drawing/2014/main" id="{C738D4B0-69A7-365E-7354-5113E6CC9A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0281" y="1414064"/>
              <a:ext cx="5143463" cy="47549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" name="Elipse 26">
            <a:extLst>
              <a:ext uri="{FF2B5EF4-FFF2-40B4-BE49-F238E27FC236}">
                <a16:creationId xmlns:a16="http://schemas.microsoft.com/office/drawing/2014/main" id="{AA85DCDC-1694-973E-009F-2E848F43E51F}"/>
              </a:ext>
            </a:extLst>
          </p:cNvPr>
          <p:cNvSpPr/>
          <p:nvPr/>
        </p:nvSpPr>
        <p:spPr>
          <a:xfrm>
            <a:off x="4003121" y="6482152"/>
            <a:ext cx="365760" cy="34912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8" name="Picture 7" descr="Clic Con El Dedo, Icono De La Mano. Vector Símbolo Aislado Sobre Fondo  Blanco. Ilustraciones svg, vectoriales, clip art vectorizado libre de  derechos. Image 98577821">
            <a:extLst>
              <a:ext uri="{FF2B5EF4-FFF2-40B4-BE49-F238E27FC236}">
                <a16:creationId xmlns:a16="http://schemas.microsoft.com/office/drawing/2014/main" id="{6FB43FF2-F687-B0CB-EE7A-0FCF7A82A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7536" y="2181168"/>
            <a:ext cx="647373" cy="647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2870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560BD05-135A-F346-16F1-0892A1C20121}"/>
              </a:ext>
            </a:extLst>
          </p:cNvPr>
          <p:cNvSpPr txBox="1"/>
          <p:nvPr/>
        </p:nvSpPr>
        <p:spPr>
          <a:xfrm>
            <a:off x="2165684" y="201288"/>
            <a:ext cx="70745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Predicción y Hallazgo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5025CD3-17EC-0EE0-2B86-81AE1B579CA9}"/>
              </a:ext>
            </a:extLst>
          </p:cNvPr>
          <p:cNvSpPr/>
          <p:nvPr/>
        </p:nvSpPr>
        <p:spPr>
          <a:xfrm>
            <a:off x="2467843" y="989179"/>
            <a:ext cx="6470249" cy="584775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1800" dirty="0"/>
              <a:t>MODELO UTILIZADO. REGRESIÓN LINEAL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B194485-4FD0-8E2C-4FCC-F84670064ACA}"/>
              </a:ext>
            </a:extLst>
          </p:cNvPr>
          <p:cNvSpPr/>
          <p:nvPr/>
        </p:nvSpPr>
        <p:spPr>
          <a:xfrm>
            <a:off x="104171" y="1777070"/>
            <a:ext cx="3136740" cy="2129741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32EBCF35-D600-1B5C-08FC-5231E33BE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059" y="1964777"/>
            <a:ext cx="279496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R² = 0.3757 → el modelo explica el 37.57% de la variabilidad.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MSE = 0.1182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RMSE = 0.3438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233197D-BF21-A3C0-D1DC-5DCE76FC53A8}"/>
              </a:ext>
            </a:extLst>
          </p:cNvPr>
          <p:cNvSpPr txBox="1"/>
          <p:nvPr/>
        </p:nvSpPr>
        <p:spPr>
          <a:xfrm>
            <a:off x="144682" y="4031213"/>
            <a:ext cx="305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MÉTRICAS OBTENIDAS</a:t>
            </a:r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BD99D26F-E104-7504-8CE1-758F278B0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1321" y="1777070"/>
            <a:ext cx="4139640" cy="3088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72B963AE-0D24-321B-A267-C1E51E635F73}"/>
              </a:ext>
            </a:extLst>
          </p:cNvPr>
          <p:cNvSpPr txBox="1"/>
          <p:nvPr/>
        </p:nvSpPr>
        <p:spPr>
          <a:xfrm>
            <a:off x="2654967" y="4897818"/>
            <a:ext cx="6096000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/>
              <a:t>La regresión lineal predice valores continuos (decimales), mientras que los valores reales solo pueden ser 0 o 1. Esto genera una alta dispersión y muestra que el modelo no clasifica, sino que aproxima una tendencia numérica.</a:t>
            </a:r>
            <a:endParaRPr lang="es-CO" dirty="0"/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18FCFA7D-171E-9E8E-02E6-ACC2B2541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0085" y="1777070"/>
            <a:ext cx="4098821" cy="230832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Edad, educación y horas trabajadas tienen un efecto positivo en la probabilidad estimada.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 esposo y tener ocupaciones profesionales aumenta la predicción de &gt;50K.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 mujer o soltero disminuye la probabilidad predicha.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F60AD0F2-0C94-8657-F770-528332266AF2}"/>
              </a:ext>
            </a:extLst>
          </p:cNvPr>
          <p:cNvSpPr txBox="1"/>
          <p:nvPr/>
        </p:nvSpPr>
        <p:spPr>
          <a:xfrm>
            <a:off x="8938092" y="4171233"/>
            <a:ext cx="305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COEFICIENTES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6EA5A046-920B-01DD-48F8-946DF960F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4125" y="4626404"/>
            <a:ext cx="1660096" cy="1660096"/>
          </a:xfrm>
          <a:prstGeom prst="rect">
            <a:avLst/>
          </a:prstGeom>
        </p:spPr>
      </p:pic>
      <p:sp>
        <p:nvSpPr>
          <p:cNvPr id="32" name="Rectángulo 31">
            <a:extLst>
              <a:ext uri="{FF2B5EF4-FFF2-40B4-BE49-F238E27FC236}">
                <a16:creationId xmlns:a16="http://schemas.microsoft.com/office/drawing/2014/main" id="{4B07D9FC-4722-484F-D96C-22E62E9F0E4D}"/>
              </a:ext>
            </a:extLst>
          </p:cNvPr>
          <p:cNvSpPr/>
          <p:nvPr/>
        </p:nvSpPr>
        <p:spPr>
          <a:xfrm>
            <a:off x="100241" y="1710100"/>
            <a:ext cx="11985246" cy="45094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2400" dirty="0"/>
              <a:t>La edad, la educación y el sexo </a:t>
            </a:r>
            <a:r>
              <a:rPr lang="es-ES" sz="2400" b="1" dirty="0"/>
              <a:t>sí influyen</a:t>
            </a:r>
            <a:r>
              <a:rPr lang="es-ES" sz="2400" dirty="0"/>
              <a:t> en los ingresos.</a:t>
            </a:r>
            <a:br>
              <a:rPr lang="es-ES" sz="2400" dirty="0"/>
            </a:br>
            <a:r>
              <a:rPr lang="es-ES" sz="2400" dirty="0"/>
              <a:t>La educación y la edad tienen el mayor impacto; el sexo influye en menor grado, pero es estadísticamente visible.</a:t>
            </a:r>
            <a:endParaRPr lang="es-CO" sz="2400" dirty="0"/>
          </a:p>
        </p:txBody>
      </p:sp>
      <p:pic>
        <p:nvPicPr>
          <p:cNvPr id="33" name="Picture 7" descr="Clic Con El Dedo, Icono De La Mano. Vector Símbolo Aislado Sobre Fondo  Blanco. Ilustraciones svg, vectoriales, clip art vectorizado libre de  derechos. Image 98577821">
            <a:extLst>
              <a:ext uri="{FF2B5EF4-FFF2-40B4-BE49-F238E27FC236}">
                <a16:creationId xmlns:a16="http://schemas.microsoft.com/office/drawing/2014/main" id="{E7BA61DF-BEA6-39CD-3809-6C23D039D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8577" y="5432836"/>
            <a:ext cx="647373" cy="647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9015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0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9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26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6E8446FD-38B9-EF52-3A92-7634B9326C9A}"/>
              </a:ext>
            </a:extLst>
          </p:cNvPr>
          <p:cNvSpPr txBox="1"/>
          <p:nvPr/>
        </p:nvSpPr>
        <p:spPr>
          <a:xfrm>
            <a:off x="2150443" y="567048"/>
            <a:ext cx="70745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Limitaciones y Restricciones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35DFF0C3-D2FE-8989-B35D-365105119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274" y="1419726"/>
            <a:ext cx="9845040" cy="4651979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regresión lineal no es adecuada para variables binarias, por lo que produce predicciones continuas y dispersión elevada.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</a:t>
            </a:r>
            <a:r>
              <a:rPr kumimoji="0" lang="es-CO" altLang="es-CO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</a:t>
            </a: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tiene clases desbalanceadas (pocos casos &gt;50K), lo que afecta la precisión.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 variables numéricas no cumplen normalidad, lo que afecta los supuestos del modelo.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Muchas variables categóricas aumentan la dimensionalidad tras el </a:t>
            </a:r>
            <a:r>
              <a:rPr kumimoji="0" lang="es-CO" altLang="es-CO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</a:t>
            </a:r>
            <a:r>
              <a:rPr kumimoji="0" lang="es-CO" altLang="es-C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-Hot </a:t>
            </a:r>
            <a:r>
              <a:rPr kumimoji="0" lang="es-CO" altLang="es-CO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Encoding</a:t>
            </a:r>
            <a:r>
              <a:rPr kumimoji="0" lang="es-CO" altLang="es-C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</a:t>
            </a:r>
            <a:r>
              <a:rPr kumimoji="0" lang="es-CO" altLang="es-CO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</a:t>
            </a: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refleja desigualdades laborales reales, lo que puede introducir sesgos por género o estado civil.</a:t>
            </a:r>
          </a:p>
        </p:txBody>
      </p:sp>
    </p:spTree>
    <p:extLst>
      <p:ext uri="{BB962C8B-B14F-4D97-AF65-F5344CB8AC3E}">
        <p14:creationId xmlns:p14="http://schemas.microsoft.com/office/powerpoint/2010/main" val="39535666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</TotalTime>
  <Words>497</Words>
  <Application>Microsoft Office PowerPoint</Application>
  <PresentationFormat>Personalizado</PresentationFormat>
  <Paragraphs>59</Paragraphs>
  <Slides>8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Wingdings</vt:lpstr>
      <vt:lpstr>Calibri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johan carrillo</dc:creator>
  <cp:lastModifiedBy>Manuela González</cp:lastModifiedBy>
  <cp:revision>11</cp:revision>
  <dcterms:modified xsi:type="dcterms:W3CDTF">2025-11-17T01:21:19Z</dcterms:modified>
</cp:coreProperties>
</file>