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66" r:id="rId3"/>
    <p:sldId id="267" r:id="rId4"/>
    <p:sldId id="268" r:id="rId5"/>
    <p:sldId id="270" r:id="rId6"/>
    <p:sldId id="269" r:id="rId7"/>
    <p:sldId id="271" r:id="rId8"/>
    <p:sldId id="272" r:id="rId9"/>
  </p:sldIdLst>
  <p:sldSz cx="12193588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38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71" autoAdjust="0"/>
  </p:normalViewPr>
  <p:slideViewPr>
    <p:cSldViewPr snapToGrid="0">
      <p:cViewPr varScale="1">
        <p:scale>
          <a:sx n="48" d="100"/>
          <a:sy n="48" d="100"/>
        </p:scale>
        <p:origin x="67" y="696"/>
      </p:cViewPr>
      <p:guideLst>
        <p:guide orient="horz" pos="2161"/>
        <p:guide pos="38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965214-9C5C-4898-9861-8267EA033009}" type="doc">
      <dgm:prSet loTypeId="urn:microsoft.com/office/officeart/2005/8/layout/hList2" loCatId="list" qsTypeId="urn:microsoft.com/office/officeart/2005/8/quickstyle/simple5" qsCatId="simple" csTypeId="urn:microsoft.com/office/officeart/2005/8/colors/accent5_1" csCatId="accent5" phldr="1"/>
      <dgm:spPr/>
      <dgm:t>
        <a:bodyPr/>
        <a:lstStyle/>
        <a:p>
          <a:endParaRPr lang="es-CO"/>
        </a:p>
      </dgm:t>
    </dgm:pt>
    <dgm:pt modelId="{048B54E9-77D4-4BD1-87AC-063A47B2D7EF}">
      <dgm:prSet phldrT="[Texto]" phldr="0"/>
      <dgm:spPr/>
      <dgm:t>
        <a:bodyPr/>
        <a:lstStyle/>
        <a:p>
          <a:r>
            <a:rPr lang="es-CO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Descripción General</a:t>
          </a:r>
        </a:p>
      </dgm:t>
    </dgm:pt>
    <dgm:pt modelId="{FA2A5F79-14D1-45D4-973D-9879F4A29A8E}" type="parTrans" cxnId="{B7CC7C82-AC1D-45F8-9BB0-ECFAEBF2EE6B}">
      <dgm:prSet/>
      <dgm:spPr/>
      <dgm:t>
        <a:bodyPr/>
        <a:lstStyle/>
        <a:p>
          <a:endParaRPr lang="es-CO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DA965350-82BF-4731-84A0-A37B78E4759D}" type="sibTrans" cxnId="{B7CC7C82-AC1D-45F8-9BB0-ECFAEBF2EE6B}">
      <dgm:prSet/>
      <dgm:spPr/>
      <dgm:t>
        <a:bodyPr/>
        <a:lstStyle/>
        <a:p>
          <a:endParaRPr lang="es-CO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15CAC06-B1C3-47F1-90F4-7D764829A1F5}">
      <dgm:prSet phldrT="[Texto]" custT="1"/>
      <dgm:spPr/>
      <dgm:t>
        <a:bodyPr/>
        <a:lstStyle/>
        <a:p>
          <a:pPr algn="l">
            <a:buFont typeface="Courier New" panose="02070309020205020404" pitchFamily="49" charset="0"/>
            <a:buChar char="o"/>
          </a:pPr>
          <a:r>
            <a:rPr lang="es-ES" sz="1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Dataset: </a:t>
          </a:r>
          <a:r>
            <a:rPr lang="es-ES" sz="1600" b="1" cap="none" spc="50" dirty="0" err="1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Adult</a:t>
          </a:r>
          <a:r>
            <a:rPr lang="es-ES" sz="1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 </a:t>
          </a:r>
          <a:r>
            <a:rPr lang="es-ES" sz="1600" b="1" cap="none" spc="50" dirty="0" err="1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Income</a:t>
          </a:r>
          <a:r>
            <a:rPr lang="es-ES" sz="1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 (Censo de EE. UU)</a:t>
          </a:r>
          <a:endParaRPr lang="es-CO" sz="1600" b="1" cap="none" spc="50" dirty="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9854223-7567-4A03-B3AF-56B6C9BE5495}" type="parTrans" cxnId="{77CB04E8-314B-487A-90CD-3C00A3BFDC32}">
      <dgm:prSet/>
      <dgm:spPr/>
      <dgm:t>
        <a:bodyPr/>
        <a:lstStyle/>
        <a:p>
          <a:endParaRPr lang="es-CO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25F60C1C-7D35-4CD7-9DA2-4E39DA486FFB}" type="sibTrans" cxnId="{77CB04E8-314B-487A-90CD-3C00A3BFDC32}">
      <dgm:prSet/>
      <dgm:spPr/>
      <dgm:t>
        <a:bodyPr/>
        <a:lstStyle/>
        <a:p>
          <a:endParaRPr lang="es-CO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CF74BB4-91DD-46EB-862C-C26997D599B6}">
      <dgm:prSet phldrT="[Texto]" phldr="0"/>
      <dgm:spPr/>
      <dgm:t>
        <a:bodyPr/>
        <a:lstStyle/>
        <a:p>
          <a:r>
            <a:rPr lang="es-CO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Procesamiento de datos</a:t>
          </a:r>
        </a:p>
      </dgm:t>
    </dgm:pt>
    <dgm:pt modelId="{247283D0-98EA-406D-9CE7-C9E2AD1CF40F}" type="parTrans" cxnId="{98A4E06A-8346-4940-AAEC-939E0FD845E7}">
      <dgm:prSet/>
      <dgm:spPr/>
      <dgm:t>
        <a:bodyPr/>
        <a:lstStyle/>
        <a:p>
          <a:endParaRPr lang="es-CO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3AAD1BF-A17B-49DE-9372-FBD1C3F105A5}" type="sibTrans" cxnId="{98A4E06A-8346-4940-AAEC-939E0FD845E7}">
      <dgm:prSet/>
      <dgm:spPr/>
      <dgm:t>
        <a:bodyPr/>
        <a:lstStyle/>
        <a:p>
          <a:endParaRPr lang="es-CO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9E860603-6036-4DCB-B80E-400179C51523}">
      <dgm:prSet phldrT="[Texto]" custT="1"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endParaRPr lang="es-CO" sz="1600" b="1" cap="none" spc="50" dirty="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DD93303-BE6E-4D13-BF8F-8F9C87C3934A}" type="parTrans" cxnId="{041F3087-E5BD-4CAC-87C8-789156405A76}">
      <dgm:prSet/>
      <dgm:spPr/>
      <dgm:t>
        <a:bodyPr/>
        <a:lstStyle/>
        <a:p>
          <a:endParaRPr lang="es-CO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3420A790-6C7C-4E1B-A7F1-36811D66A00F}" type="sibTrans" cxnId="{041F3087-E5BD-4CAC-87C8-789156405A76}">
      <dgm:prSet/>
      <dgm:spPr/>
      <dgm:t>
        <a:bodyPr/>
        <a:lstStyle/>
        <a:p>
          <a:endParaRPr lang="es-CO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38BEB2BC-B1D3-429E-9BF1-21AAE25C01E1}">
      <dgm:prSet phldrT="[Texto]" phldr="0"/>
      <dgm:spPr/>
      <dgm:t>
        <a:bodyPr/>
        <a:lstStyle/>
        <a:p>
          <a:r>
            <a:rPr lang="es-CO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Hallazgos descriptivos</a:t>
          </a:r>
        </a:p>
      </dgm:t>
    </dgm:pt>
    <dgm:pt modelId="{4173FB64-3786-4D1E-81CE-FD15E82DEB79}" type="parTrans" cxnId="{FC49CB45-97FD-4D33-B443-258B8E30B915}">
      <dgm:prSet/>
      <dgm:spPr/>
      <dgm:t>
        <a:bodyPr/>
        <a:lstStyle/>
        <a:p>
          <a:endParaRPr lang="es-CO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77769B74-7AC1-4B8D-B127-BADDDF7E8479}" type="sibTrans" cxnId="{FC49CB45-97FD-4D33-B443-258B8E30B915}">
      <dgm:prSet/>
      <dgm:spPr/>
      <dgm:t>
        <a:bodyPr/>
        <a:lstStyle/>
        <a:p>
          <a:endParaRPr lang="es-CO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72B7C56A-D47E-4843-8DEF-E58D0C7732EC}">
      <dgm:prSet phldrT="[Texto]" custT="1"/>
      <dgm:spPr/>
      <dgm:t>
        <a:bodyPr/>
        <a:lstStyle/>
        <a:p>
          <a:pPr>
            <a:buNone/>
          </a:pPr>
          <a:endParaRPr lang="es-CO" sz="1600" b="1" cap="none" spc="50" dirty="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60472AC0-D194-4F92-A812-CF1520046413}" type="parTrans" cxnId="{7827FEA2-5CA4-4E35-BF1F-4D5111E6AA8A}">
      <dgm:prSet/>
      <dgm:spPr/>
      <dgm:t>
        <a:bodyPr/>
        <a:lstStyle/>
        <a:p>
          <a:endParaRPr lang="es-CO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A86E7325-6E2D-4C89-961A-404F78360304}" type="sibTrans" cxnId="{7827FEA2-5CA4-4E35-BF1F-4D5111E6AA8A}">
      <dgm:prSet/>
      <dgm:spPr/>
      <dgm:t>
        <a:bodyPr/>
        <a:lstStyle/>
        <a:p>
          <a:endParaRPr lang="es-CO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A1D3CC01-2AE3-4D8A-A8DD-6F4DD951E51B}">
      <dgm:prSet custT="1"/>
      <dgm:spPr/>
      <dgm:t>
        <a:bodyPr/>
        <a:lstStyle/>
        <a:p>
          <a:pPr algn="l">
            <a:buFont typeface="Courier New" panose="02070309020205020404" pitchFamily="49" charset="0"/>
            <a:buChar char="o"/>
          </a:pPr>
          <a:r>
            <a:rPr lang="es-CO" sz="1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Total de registros: 32 561 personas</a:t>
          </a:r>
        </a:p>
      </dgm:t>
    </dgm:pt>
    <dgm:pt modelId="{1E973A43-9B83-423B-9280-B71D4CB380A4}" type="parTrans" cxnId="{756BC9F6-B571-4729-B2B5-586EFA6F6E2E}">
      <dgm:prSet/>
      <dgm:spPr/>
      <dgm:t>
        <a:bodyPr/>
        <a:lstStyle/>
        <a:p>
          <a:endParaRPr lang="es-CO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140D055-B29F-4E3B-9FF6-12872256BC65}" type="sibTrans" cxnId="{756BC9F6-B571-4729-B2B5-586EFA6F6E2E}">
      <dgm:prSet/>
      <dgm:spPr/>
      <dgm:t>
        <a:bodyPr/>
        <a:lstStyle/>
        <a:p>
          <a:endParaRPr lang="es-CO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EAC83F82-BD2F-42B2-BF23-FF4BB4125CEE}">
      <dgm:prSet custT="1"/>
      <dgm:spPr/>
      <dgm:t>
        <a:bodyPr/>
        <a:lstStyle/>
        <a:p>
          <a:pPr algn="l">
            <a:buFont typeface="Courier New" panose="02070309020205020404" pitchFamily="49" charset="0"/>
            <a:buChar char="o"/>
          </a:pPr>
          <a:r>
            <a:rPr lang="es-ES" sz="1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Variables: 15 (6 numéricas y 9 categóricas)</a:t>
          </a:r>
        </a:p>
      </dgm:t>
    </dgm:pt>
    <dgm:pt modelId="{19B8B631-DE5B-490D-8094-EB57DC20CFCC}" type="parTrans" cxnId="{EA74554B-385C-4ACE-8C1E-5E9755959F3D}">
      <dgm:prSet/>
      <dgm:spPr/>
      <dgm:t>
        <a:bodyPr/>
        <a:lstStyle/>
        <a:p>
          <a:endParaRPr lang="es-CO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601D3B92-F341-4D83-8D17-B26345E9BDE9}" type="sibTrans" cxnId="{EA74554B-385C-4ACE-8C1E-5E9755959F3D}">
      <dgm:prSet/>
      <dgm:spPr/>
      <dgm:t>
        <a:bodyPr/>
        <a:lstStyle/>
        <a:p>
          <a:endParaRPr lang="es-CO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2A51747C-9442-4C2E-9D9C-1E1FC96A7F0C}">
      <dgm:prSet custT="1"/>
      <dgm:spPr/>
      <dgm:t>
        <a:bodyPr/>
        <a:lstStyle/>
        <a:p>
          <a:pPr algn="l">
            <a:buFont typeface="Courier New" panose="02070309020205020404" pitchFamily="49" charset="0"/>
            <a:buChar char="o"/>
          </a:pPr>
          <a:r>
            <a:rPr lang="es-ES" sz="1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Variable objetivo: INCOME (&lt;=50K o &gt;50K)</a:t>
          </a:r>
        </a:p>
      </dgm:t>
    </dgm:pt>
    <dgm:pt modelId="{06D1223D-305F-4109-9CA7-551F7459EFCF}" type="parTrans" cxnId="{DF4B47CA-EB71-400B-A15E-5505C5E54514}">
      <dgm:prSet/>
      <dgm:spPr/>
      <dgm:t>
        <a:bodyPr/>
        <a:lstStyle/>
        <a:p>
          <a:endParaRPr lang="es-CO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6C53284C-AF49-4038-9545-AEBD0420D792}" type="sibTrans" cxnId="{DF4B47CA-EB71-400B-A15E-5505C5E54514}">
      <dgm:prSet/>
      <dgm:spPr/>
      <dgm:t>
        <a:bodyPr/>
        <a:lstStyle/>
        <a:p>
          <a:endParaRPr lang="es-CO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BF644893-9F42-4A60-BD1F-EAEE25F5146F}">
      <dgm:prSet custT="1"/>
      <dgm:spPr/>
      <dgm:t>
        <a:bodyPr/>
        <a:lstStyle/>
        <a:p>
          <a:pPr algn="l">
            <a:buFont typeface="Courier New" panose="02070309020205020404" pitchFamily="49" charset="0"/>
            <a:buChar char="o"/>
          </a:pPr>
          <a:r>
            <a:rPr lang="en-US" sz="1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Fuente: UCI Machine Learning Repository</a:t>
          </a:r>
        </a:p>
      </dgm:t>
    </dgm:pt>
    <dgm:pt modelId="{8E113367-3168-4F39-8F9E-8751A96A6987}" type="parTrans" cxnId="{FE42933E-ED2E-4819-AF0F-B813646FCB82}">
      <dgm:prSet/>
      <dgm:spPr/>
      <dgm:t>
        <a:bodyPr/>
        <a:lstStyle/>
        <a:p>
          <a:endParaRPr lang="es-CO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86F64459-7CFE-44E1-A1B9-9E923CE49C41}" type="sibTrans" cxnId="{FE42933E-ED2E-4819-AF0F-B813646FCB82}">
      <dgm:prSet/>
      <dgm:spPr/>
      <dgm:t>
        <a:bodyPr/>
        <a:lstStyle/>
        <a:p>
          <a:endParaRPr lang="es-CO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A9C21DD1-3B65-44E1-8712-EB452E1001DF}">
      <dgm:prSet phldrT="[Texto]" custT="1"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s-CO" sz="1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Se limpiaron duplicados y valores faltantes, completando datos numéricos con la mediana y categóricos con la moda. Se codificaron variables con </a:t>
          </a:r>
          <a:r>
            <a:rPr lang="es-CO" sz="1600" b="1" i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 </a:t>
          </a:r>
          <a:r>
            <a:rPr lang="es-CO" sz="1600" b="1" i="1" cap="none" spc="50" dirty="0" err="1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LabelEncoderMinMaxScaler</a:t>
          </a:r>
          <a:endParaRPr lang="es-CO" sz="1600" b="1" cap="none" spc="50" dirty="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206463BF-5914-4B53-A234-E63EDF525BF3}" type="parTrans" cxnId="{D731A21E-560F-4AA6-91C5-C7FA7E71FAB6}">
      <dgm:prSet/>
      <dgm:spPr/>
      <dgm:t>
        <a:bodyPr/>
        <a:lstStyle/>
        <a:p>
          <a:endParaRPr lang="es-CO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9936D742-A988-4E96-89EE-112643F121FD}" type="sibTrans" cxnId="{D731A21E-560F-4AA6-91C5-C7FA7E71FAB6}">
      <dgm:prSet/>
      <dgm:spPr/>
      <dgm:t>
        <a:bodyPr/>
        <a:lstStyle/>
        <a:p>
          <a:endParaRPr lang="es-CO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D5A64699-4892-4174-9C86-607A6D7212BE}">
      <dgm:prSet phldrT="[Texto]" custT="1"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s-ES" sz="1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Predomina la población con ingresos ≤ 50 000 USD (76 %), nivel educativo medio, y mayoría masculina (67 %).</a:t>
          </a:r>
          <a:br>
            <a:rPr lang="es-ES" sz="1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</a:br>
          <a:r>
            <a:rPr lang="es-ES" sz="1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La mayoría son adultos entre 25 y 50 años con jornadas cercanas a 40 horas semanales.</a:t>
          </a:r>
          <a:endParaRPr lang="es-CO" sz="1600" b="1" cap="none" spc="50" dirty="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0591191F-3363-4D63-96F0-0B05DCC41161}" type="parTrans" cxnId="{2727C2C7-8233-45A5-B4AF-239D36AD546B}">
      <dgm:prSet/>
      <dgm:spPr/>
      <dgm:t>
        <a:bodyPr/>
        <a:lstStyle/>
        <a:p>
          <a:endParaRPr lang="es-CO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D75F3155-8019-4E19-90C3-AEF2BD973693}" type="sibTrans" cxnId="{2727C2C7-8233-45A5-B4AF-239D36AD546B}">
      <dgm:prSet/>
      <dgm:spPr/>
      <dgm:t>
        <a:bodyPr/>
        <a:lstStyle/>
        <a:p>
          <a:endParaRPr lang="es-CO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93E6F52A-EF01-4629-BC93-7081AA908E78}" type="pres">
      <dgm:prSet presAssocID="{F1965214-9C5C-4898-9861-8267EA033009}" presName="linearFlow" presStyleCnt="0">
        <dgm:presLayoutVars>
          <dgm:dir/>
          <dgm:animLvl val="lvl"/>
          <dgm:resizeHandles/>
        </dgm:presLayoutVars>
      </dgm:prSet>
      <dgm:spPr/>
    </dgm:pt>
    <dgm:pt modelId="{D6342054-563E-4A39-AE57-46D0120C511B}" type="pres">
      <dgm:prSet presAssocID="{048B54E9-77D4-4BD1-87AC-063A47B2D7EF}" presName="compositeNode" presStyleCnt="0">
        <dgm:presLayoutVars>
          <dgm:bulletEnabled val="1"/>
        </dgm:presLayoutVars>
      </dgm:prSet>
      <dgm:spPr/>
    </dgm:pt>
    <dgm:pt modelId="{64F94143-0B4C-4360-B16E-24904061D1D5}" type="pres">
      <dgm:prSet presAssocID="{048B54E9-77D4-4BD1-87AC-063A47B2D7EF}" presName="image" presStyleLbl="fgImgPlace1" presStyleIdx="0" presStyleCnt="3" custLinFactY="-35496" custLinFactNeighborX="-30849" custLinFactNeighborY="-100000"/>
      <dgm:spPr/>
    </dgm:pt>
    <dgm:pt modelId="{6D6961CB-3962-44B1-8083-07C28EEF28FF}" type="pres">
      <dgm:prSet presAssocID="{048B54E9-77D4-4BD1-87AC-063A47B2D7EF}" presName="childNode" presStyleLbl="node1" presStyleIdx="0" presStyleCnt="3">
        <dgm:presLayoutVars>
          <dgm:bulletEnabled val="1"/>
        </dgm:presLayoutVars>
      </dgm:prSet>
      <dgm:spPr/>
    </dgm:pt>
    <dgm:pt modelId="{36E02A55-1A88-4143-8DAA-0F37C8577EBE}" type="pres">
      <dgm:prSet presAssocID="{048B54E9-77D4-4BD1-87AC-063A47B2D7EF}" presName="parentNode" presStyleLbl="revTx" presStyleIdx="0" presStyleCnt="3">
        <dgm:presLayoutVars>
          <dgm:chMax val="0"/>
          <dgm:bulletEnabled val="1"/>
        </dgm:presLayoutVars>
      </dgm:prSet>
      <dgm:spPr/>
    </dgm:pt>
    <dgm:pt modelId="{A50D8B0B-BC4A-4E53-977E-5CEE0F1447DC}" type="pres">
      <dgm:prSet presAssocID="{DA965350-82BF-4731-84A0-A37B78E4759D}" presName="sibTrans" presStyleCnt="0"/>
      <dgm:spPr/>
    </dgm:pt>
    <dgm:pt modelId="{D3B0BA8C-EFA8-4A16-8005-E2A607F096DE}" type="pres">
      <dgm:prSet presAssocID="{1CF74BB4-91DD-46EB-862C-C26997D599B6}" presName="compositeNode" presStyleCnt="0">
        <dgm:presLayoutVars>
          <dgm:bulletEnabled val="1"/>
        </dgm:presLayoutVars>
      </dgm:prSet>
      <dgm:spPr/>
    </dgm:pt>
    <dgm:pt modelId="{A63BD669-98A9-405C-8224-49B7FAECE735}" type="pres">
      <dgm:prSet presAssocID="{1CF74BB4-91DD-46EB-862C-C26997D599B6}" presName="image" presStyleLbl="fgImgPlace1" presStyleIdx="1" presStyleCnt="3"/>
      <dgm:spPr/>
    </dgm:pt>
    <dgm:pt modelId="{1016AA7B-D221-4FFB-97CE-D9EF9F0825D8}" type="pres">
      <dgm:prSet presAssocID="{1CF74BB4-91DD-46EB-862C-C26997D599B6}" presName="childNode" presStyleLbl="node1" presStyleIdx="1" presStyleCnt="3">
        <dgm:presLayoutVars>
          <dgm:bulletEnabled val="1"/>
        </dgm:presLayoutVars>
      </dgm:prSet>
      <dgm:spPr/>
    </dgm:pt>
    <dgm:pt modelId="{9B8A0C69-CEF7-4166-B745-83E178D2C72A}" type="pres">
      <dgm:prSet presAssocID="{1CF74BB4-91DD-46EB-862C-C26997D599B6}" presName="parentNode" presStyleLbl="revTx" presStyleIdx="1" presStyleCnt="3">
        <dgm:presLayoutVars>
          <dgm:chMax val="0"/>
          <dgm:bulletEnabled val="1"/>
        </dgm:presLayoutVars>
      </dgm:prSet>
      <dgm:spPr/>
    </dgm:pt>
    <dgm:pt modelId="{86873CAE-D2E0-4CB1-9B5D-A737AB878CC5}" type="pres">
      <dgm:prSet presAssocID="{13AAD1BF-A17B-49DE-9372-FBD1C3F105A5}" presName="sibTrans" presStyleCnt="0"/>
      <dgm:spPr/>
    </dgm:pt>
    <dgm:pt modelId="{EDE60E61-0FB6-458C-96CA-F08D0932FC9B}" type="pres">
      <dgm:prSet presAssocID="{38BEB2BC-B1D3-429E-9BF1-21AAE25C01E1}" presName="compositeNode" presStyleCnt="0">
        <dgm:presLayoutVars>
          <dgm:bulletEnabled val="1"/>
        </dgm:presLayoutVars>
      </dgm:prSet>
      <dgm:spPr/>
    </dgm:pt>
    <dgm:pt modelId="{E4CF92BF-3AE9-4216-ACC5-DFEC80C9B1D2}" type="pres">
      <dgm:prSet presAssocID="{38BEB2BC-B1D3-429E-9BF1-21AAE25C01E1}" presName="image" presStyleLbl="fgImgPlace1" presStyleIdx="2" presStyleCnt="3"/>
      <dgm:spPr/>
    </dgm:pt>
    <dgm:pt modelId="{950C4686-FE50-46A5-87A7-9A548967715E}" type="pres">
      <dgm:prSet presAssocID="{38BEB2BC-B1D3-429E-9BF1-21AAE25C01E1}" presName="childNode" presStyleLbl="node1" presStyleIdx="2" presStyleCnt="3">
        <dgm:presLayoutVars>
          <dgm:bulletEnabled val="1"/>
        </dgm:presLayoutVars>
      </dgm:prSet>
      <dgm:spPr/>
    </dgm:pt>
    <dgm:pt modelId="{3AC603FA-9903-40D7-95B4-A99B8C7E5E23}" type="pres">
      <dgm:prSet presAssocID="{38BEB2BC-B1D3-429E-9BF1-21AAE25C01E1}" presName="parentNode" presStyleLbl="revTx" presStyleIdx="2" presStyleCnt="3">
        <dgm:presLayoutVars>
          <dgm:chMax val="0"/>
          <dgm:bulletEnabled val="1"/>
        </dgm:presLayoutVars>
      </dgm:prSet>
      <dgm:spPr/>
    </dgm:pt>
  </dgm:ptLst>
  <dgm:cxnLst>
    <dgm:cxn modelId="{AC29C20C-E13E-4B10-80C2-28B4EE174D78}" type="presOf" srcId="{1CF74BB4-91DD-46EB-862C-C26997D599B6}" destId="{9B8A0C69-CEF7-4166-B745-83E178D2C72A}" srcOrd="0" destOrd="0" presId="urn:microsoft.com/office/officeart/2005/8/layout/hList2"/>
    <dgm:cxn modelId="{48107313-8C8B-417D-BF5C-B52913A35201}" type="presOf" srcId="{D5A64699-4892-4174-9C86-607A6D7212BE}" destId="{950C4686-FE50-46A5-87A7-9A548967715E}" srcOrd="0" destOrd="1" presId="urn:microsoft.com/office/officeart/2005/8/layout/hList2"/>
    <dgm:cxn modelId="{D731A21E-560F-4AA6-91C5-C7FA7E71FAB6}" srcId="{1CF74BB4-91DD-46EB-862C-C26997D599B6}" destId="{A9C21DD1-3B65-44E1-8712-EB452E1001DF}" srcOrd="1" destOrd="0" parTransId="{206463BF-5914-4B53-A234-E63EDF525BF3}" sibTransId="{9936D742-A988-4E96-89EE-112643F121FD}"/>
    <dgm:cxn modelId="{FE42933E-ED2E-4819-AF0F-B813646FCB82}" srcId="{048B54E9-77D4-4BD1-87AC-063A47B2D7EF}" destId="{BF644893-9F42-4A60-BD1F-EAEE25F5146F}" srcOrd="4" destOrd="0" parTransId="{8E113367-3168-4F39-8F9E-8751A96A6987}" sibTransId="{86F64459-7CFE-44E1-A1B9-9E923CE49C41}"/>
    <dgm:cxn modelId="{F1325C40-A780-4BAB-9A57-979E33BC55BE}" type="presOf" srcId="{415CAC06-B1C3-47F1-90F4-7D764829A1F5}" destId="{6D6961CB-3962-44B1-8083-07C28EEF28FF}" srcOrd="0" destOrd="0" presId="urn:microsoft.com/office/officeart/2005/8/layout/hList2"/>
    <dgm:cxn modelId="{FC49CB45-97FD-4D33-B443-258B8E30B915}" srcId="{F1965214-9C5C-4898-9861-8267EA033009}" destId="{38BEB2BC-B1D3-429E-9BF1-21AAE25C01E1}" srcOrd="2" destOrd="0" parTransId="{4173FB64-3786-4D1E-81CE-FD15E82DEB79}" sibTransId="{77769B74-7AC1-4B8D-B127-BADDDF7E8479}"/>
    <dgm:cxn modelId="{98A4E06A-8346-4940-AAEC-939E0FD845E7}" srcId="{F1965214-9C5C-4898-9861-8267EA033009}" destId="{1CF74BB4-91DD-46EB-862C-C26997D599B6}" srcOrd="1" destOrd="0" parTransId="{247283D0-98EA-406D-9CE7-C9E2AD1CF40F}" sibTransId="{13AAD1BF-A17B-49DE-9372-FBD1C3F105A5}"/>
    <dgm:cxn modelId="{EA74554B-385C-4ACE-8C1E-5E9755959F3D}" srcId="{048B54E9-77D4-4BD1-87AC-063A47B2D7EF}" destId="{EAC83F82-BD2F-42B2-BF23-FF4BB4125CEE}" srcOrd="2" destOrd="0" parTransId="{19B8B631-DE5B-490D-8094-EB57DC20CFCC}" sibTransId="{601D3B92-F341-4D83-8D17-B26345E9BDE9}"/>
    <dgm:cxn modelId="{E417F16C-DD78-4286-8752-862D50BBD732}" type="presOf" srcId="{A9C21DD1-3B65-44E1-8712-EB452E1001DF}" destId="{1016AA7B-D221-4FFB-97CE-D9EF9F0825D8}" srcOrd="0" destOrd="1" presId="urn:microsoft.com/office/officeart/2005/8/layout/hList2"/>
    <dgm:cxn modelId="{B9418074-23AF-472D-9CA1-1E930980646C}" type="presOf" srcId="{72B7C56A-D47E-4843-8DEF-E58D0C7732EC}" destId="{950C4686-FE50-46A5-87A7-9A548967715E}" srcOrd="0" destOrd="0" presId="urn:microsoft.com/office/officeart/2005/8/layout/hList2"/>
    <dgm:cxn modelId="{7780B857-353B-4BC0-9C55-6FE4237B4580}" type="presOf" srcId="{EAC83F82-BD2F-42B2-BF23-FF4BB4125CEE}" destId="{6D6961CB-3962-44B1-8083-07C28EEF28FF}" srcOrd="0" destOrd="2" presId="urn:microsoft.com/office/officeart/2005/8/layout/hList2"/>
    <dgm:cxn modelId="{B7CC7C82-AC1D-45F8-9BB0-ECFAEBF2EE6B}" srcId="{F1965214-9C5C-4898-9861-8267EA033009}" destId="{048B54E9-77D4-4BD1-87AC-063A47B2D7EF}" srcOrd="0" destOrd="0" parTransId="{FA2A5F79-14D1-45D4-973D-9879F4A29A8E}" sibTransId="{DA965350-82BF-4731-84A0-A37B78E4759D}"/>
    <dgm:cxn modelId="{041F3087-E5BD-4CAC-87C8-789156405A76}" srcId="{1CF74BB4-91DD-46EB-862C-C26997D599B6}" destId="{9E860603-6036-4DCB-B80E-400179C51523}" srcOrd="0" destOrd="0" parTransId="{4DD93303-BE6E-4D13-BF8F-8F9C87C3934A}" sibTransId="{3420A790-6C7C-4E1B-A7F1-36811D66A00F}"/>
    <dgm:cxn modelId="{C4F1C590-801B-4255-A06B-AA256F9B3F19}" type="presOf" srcId="{38BEB2BC-B1D3-429E-9BF1-21AAE25C01E1}" destId="{3AC603FA-9903-40D7-95B4-A99B8C7E5E23}" srcOrd="0" destOrd="0" presId="urn:microsoft.com/office/officeart/2005/8/layout/hList2"/>
    <dgm:cxn modelId="{7827FEA2-5CA4-4E35-BF1F-4D5111E6AA8A}" srcId="{38BEB2BC-B1D3-429E-9BF1-21AAE25C01E1}" destId="{72B7C56A-D47E-4843-8DEF-E58D0C7732EC}" srcOrd="0" destOrd="0" parTransId="{60472AC0-D194-4F92-A812-CF1520046413}" sibTransId="{A86E7325-6E2D-4C89-961A-404F78360304}"/>
    <dgm:cxn modelId="{B3BF09C1-6B0D-4560-B2B5-04FE7590DAD5}" type="presOf" srcId="{2A51747C-9442-4C2E-9D9C-1E1FC96A7F0C}" destId="{6D6961CB-3962-44B1-8083-07C28EEF28FF}" srcOrd="0" destOrd="3" presId="urn:microsoft.com/office/officeart/2005/8/layout/hList2"/>
    <dgm:cxn modelId="{2727C2C7-8233-45A5-B4AF-239D36AD546B}" srcId="{38BEB2BC-B1D3-429E-9BF1-21AAE25C01E1}" destId="{D5A64699-4892-4174-9C86-607A6D7212BE}" srcOrd="1" destOrd="0" parTransId="{0591191F-3363-4D63-96F0-0B05DCC41161}" sibTransId="{D75F3155-8019-4E19-90C3-AEF2BD973693}"/>
    <dgm:cxn modelId="{E03BECC7-DB5B-468C-9C1F-862C2AF966E6}" type="presOf" srcId="{BF644893-9F42-4A60-BD1F-EAEE25F5146F}" destId="{6D6961CB-3962-44B1-8083-07C28EEF28FF}" srcOrd="0" destOrd="4" presId="urn:microsoft.com/office/officeart/2005/8/layout/hList2"/>
    <dgm:cxn modelId="{DF4B47CA-EB71-400B-A15E-5505C5E54514}" srcId="{048B54E9-77D4-4BD1-87AC-063A47B2D7EF}" destId="{2A51747C-9442-4C2E-9D9C-1E1FC96A7F0C}" srcOrd="3" destOrd="0" parTransId="{06D1223D-305F-4109-9CA7-551F7459EFCF}" sibTransId="{6C53284C-AF49-4038-9545-AEBD0420D792}"/>
    <dgm:cxn modelId="{EF49B0CF-BE4A-46EF-9C58-BFC90A80BA99}" type="presOf" srcId="{A1D3CC01-2AE3-4D8A-A8DD-6F4DD951E51B}" destId="{6D6961CB-3962-44B1-8083-07C28EEF28FF}" srcOrd="0" destOrd="1" presId="urn:microsoft.com/office/officeart/2005/8/layout/hList2"/>
    <dgm:cxn modelId="{522830E0-2A2B-4186-B253-9412B5A37AEB}" type="presOf" srcId="{9E860603-6036-4DCB-B80E-400179C51523}" destId="{1016AA7B-D221-4FFB-97CE-D9EF9F0825D8}" srcOrd="0" destOrd="0" presId="urn:microsoft.com/office/officeart/2005/8/layout/hList2"/>
    <dgm:cxn modelId="{77CB04E8-314B-487A-90CD-3C00A3BFDC32}" srcId="{048B54E9-77D4-4BD1-87AC-063A47B2D7EF}" destId="{415CAC06-B1C3-47F1-90F4-7D764829A1F5}" srcOrd="0" destOrd="0" parTransId="{19854223-7567-4A03-B3AF-56B6C9BE5495}" sibTransId="{25F60C1C-7D35-4CD7-9DA2-4E39DA486FFB}"/>
    <dgm:cxn modelId="{798484EC-855C-474B-8E2B-A944C8BD46F1}" type="presOf" srcId="{048B54E9-77D4-4BD1-87AC-063A47B2D7EF}" destId="{36E02A55-1A88-4143-8DAA-0F37C8577EBE}" srcOrd="0" destOrd="0" presId="urn:microsoft.com/office/officeart/2005/8/layout/hList2"/>
    <dgm:cxn modelId="{89EE6BF1-44CA-47B6-AFF3-7426C44DD806}" type="presOf" srcId="{F1965214-9C5C-4898-9861-8267EA033009}" destId="{93E6F52A-EF01-4629-BC93-7081AA908E78}" srcOrd="0" destOrd="0" presId="urn:microsoft.com/office/officeart/2005/8/layout/hList2"/>
    <dgm:cxn modelId="{756BC9F6-B571-4729-B2B5-586EFA6F6E2E}" srcId="{048B54E9-77D4-4BD1-87AC-063A47B2D7EF}" destId="{A1D3CC01-2AE3-4D8A-A8DD-6F4DD951E51B}" srcOrd="1" destOrd="0" parTransId="{1E973A43-9B83-423B-9280-B71D4CB380A4}" sibTransId="{1140D055-B29F-4E3B-9FF6-12872256BC65}"/>
    <dgm:cxn modelId="{D7B8962C-2C2C-4BE0-8F29-174801BDB09E}" type="presParOf" srcId="{93E6F52A-EF01-4629-BC93-7081AA908E78}" destId="{D6342054-563E-4A39-AE57-46D0120C511B}" srcOrd="0" destOrd="0" presId="urn:microsoft.com/office/officeart/2005/8/layout/hList2"/>
    <dgm:cxn modelId="{646EABD5-E8A1-4B6E-BE88-ABB2BBF3ACEF}" type="presParOf" srcId="{D6342054-563E-4A39-AE57-46D0120C511B}" destId="{64F94143-0B4C-4360-B16E-24904061D1D5}" srcOrd="0" destOrd="0" presId="urn:microsoft.com/office/officeart/2005/8/layout/hList2"/>
    <dgm:cxn modelId="{CB87AA1A-C17D-442C-B72B-F189213ADD5D}" type="presParOf" srcId="{D6342054-563E-4A39-AE57-46D0120C511B}" destId="{6D6961CB-3962-44B1-8083-07C28EEF28FF}" srcOrd="1" destOrd="0" presId="urn:microsoft.com/office/officeart/2005/8/layout/hList2"/>
    <dgm:cxn modelId="{DD85239F-AED6-48DE-9474-E225F5381ED7}" type="presParOf" srcId="{D6342054-563E-4A39-AE57-46D0120C511B}" destId="{36E02A55-1A88-4143-8DAA-0F37C8577EBE}" srcOrd="2" destOrd="0" presId="urn:microsoft.com/office/officeart/2005/8/layout/hList2"/>
    <dgm:cxn modelId="{6C7D6738-1E80-449E-B377-BAF625A0AC5A}" type="presParOf" srcId="{93E6F52A-EF01-4629-BC93-7081AA908E78}" destId="{A50D8B0B-BC4A-4E53-977E-5CEE0F1447DC}" srcOrd="1" destOrd="0" presId="urn:microsoft.com/office/officeart/2005/8/layout/hList2"/>
    <dgm:cxn modelId="{F5927354-6A0D-41A6-97E0-B472A58C447B}" type="presParOf" srcId="{93E6F52A-EF01-4629-BC93-7081AA908E78}" destId="{D3B0BA8C-EFA8-4A16-8005-E2A607F096DE}" srcOrd="2" destOrd="0" presId="urn:microsoft.com/office/officeart/2005/8/layout/hList2"/>
    <dgm:cxn modelId="{E09D06F8-6D8D-4FCE-A73B-2AA1CAA1DF70}" type="presParOf" srcId="{D3B0BA8C-EFA8-4A16-8005-E2A607F096DE}" destId="{A63BD669-98A9-405C-8224-49B7FAECE735}" srcOrd="0" destOrd="0" presId="urn:microsoft.com/office/officeart/2005/8/layout/hList2"/>
    <dgm:cxn modelId="{F8DA1255-487F-4BF0-AF4C-F6CAB62ABB41}" type="presParOf" srcId="{D3B0BA8C-EFA8-4A16-8005-E2A607F096DE}" destId="{1016AA7B-D221-4FFB-97CE-D9EF9F0825D8}" srcOrd="1" destOrd="0" presId="urn:microsoft.com/office/officeart/2005/8/layout/hList2"/>
    <dgm:cxn modelId="{5D849316-89DA-4860-8055-6BE937E75E7F}" type="presParOf" srcId="{D3B0BA8C-EFA8-4A16-8005-E2A607F096DE}" destId="{9B8A0C69-CEF7-4166-B745-83E178D2C72A}" srcOrd="2" destOrd="0" presId="urn:microsoft.com/office/officeart/2005/8/layout/hList2"/>
    <dgm:cxn modelId="{3395F5DD-955D-4D60-9A57-EC08AF0BD95D}" type="presParOf" srcId="{93E6F52A-EF01-4629-BC93-7081AA908E78}" destId="{86873CAE-D2E0-4CB1-9B5D-A737AB878CC5}" srcOrd="3" destOrd="0" presId="urn:microsoft.com/office/officeart/2005/8/layout/hList2"/>
    <dgm:cxn modelId="{A740A3AF-F8BE-4F34-9491-195FB0D622CA}" type="presParOf" srcId="{93E6F52A-EF01-4629-BC93-7081AA908E78}" destId="{EDE60E61-0FB6-458C-96CA-F08D0932FC9B}" srcOrd="4" destOrd="0" presId="urn:microsoft.com/office/officeart/2005/8/layout/hList2"/>
    <dgm:cxn modelId="{B9AD0BBF-7CEC-49BD-80AC-38FC6257C126}" type="presParOf" srcId="{EDE60E61-0FB6-458C-96CA-F08D0932FC9B}" destId="{E4CF92BF-3AE9-4216-ACC5-DFEC80C9B1D2}" srcOrd="0" destOrd="0" presId="urn:microsoft.com/office/officeart/2005/8/layout/hList2"/>
    <dgm:cxn modelId="{630055C9-981B-4198-82DA-7120E6E8255B}" type="presParOf" srcId="{EDE60E61-0FB6-458C-96CA-F08D0932FC9B}" destId="{950C4686-FE50-46A5-87A7-9A548967715E}" srcOrd="1" destOrd="0" presId="urn:microsoft.com/office/officeart/2005/8/layout/hList2"/>
    <dgm:cxn modelId="{D283B1F8-CB76-4555-9FDB-3BF94EBD9F14}" type="presParOf" srcId="{EDE60E61-0FB6-458C-96CA-F08D0932FC9B}" destId="{3AC603FA-9903-40D7-95B4-A99B8C7E5E23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FDC2243-2CF3-4CB3-8661-B3529354754E}" type="doc">
      <dgm:prSet loTypeId="urn:microsoft.com/office/officeart/2005/8/layout/hierarchy3" loCatId="list" qsTypeId="urn:microsoft.com/office/officeart/2005/8/quickstyle/simple1" qsCatId="simple" csTypeId="urn:microsoft.com/office/officeart/2005/8/colors/accent5_1" csCatId="accent5" phldr="1"/>
      <dgm:spPr/>
      <dgm:t>
        <a:bodyPr/>
        <a:lstStyle/>
        <a:p>
          <a:endParaRPr lang="es-CO"/>
        </a:p>
      </dgm:t>
    </dgm:pt>
    <dgm:pt modelId="{8C170C34-7F11-4BDC-BECE-B0B21AA394B5}">
      <dgm:prSet phldrT="[Texto]" phldr="0" custT="1"/>
      <dgm:spPr/>
      <dgm:t>
        <a:bodyPr/>
        <a:lstStyle/>
        <a:p>
          <a:r>
            <a:rPr lang="es-ES" sz="2800" dirty="0"/>
            <a:t>Limitaciones del </a:t>
          </a:r>
          <a:r>
            <a:rPr lang="es-ES" sz="2800" dirty="0" err="1"/>
            <a:t>Dataset</a:t>
          </a:r>
          <a:endParaRPr lang="es-CO" sz="2800" dirty="0"/>
        </a:p>
      </dgm:t>
    </dgm:pt>
    <dgm:pt modelId="{2EC01465-790D-4ED8-8E52-AC7E33D337B1}" type="parTrans" cxnId="{8C50CFB5-6083-4B6D-84A3-BADC68017844}">
      <dgm:prSet/>
      <dgm:spPr/>
      <dgm:t>
        <a:bodyPr/>
        <a:lstStyle/>
        <a:p>
          <a:endParaRPr lang="es-CO"/>
        </a:p>
      </dgm:t>
    </dgm:pt>
    <dgm:pt modelId="{1DC9420D-C03E-480F-9622-DCA57586A130}" type="sibTrans" cxnId="{8C50CFB5-6083-4B6D-84A3-BADC68017844}">
      <dgm:prSet/>
      <dgm:spPr/>
      <dgm:t>
        <a:bodyPr/>
        <a:lstStyle/>
        <a:p>
          <a:endParaRPr lang="es-CO"/>
        </a:p>
      </dgm:t>
    </dgm:pt>
    <dgm:pt modelId="{CC170312-5FE7-4F0B-AE6B-112BF7B18F78}">
      <dgm:prSet phldrT="[Texto]" phldr="0" custT="1"/>
      <dgm:spPr/>
      <dgm:t>
        <a:bodyPr/>
        <a:lstStyle/>
        <a:p>
          <a:pPr algn="ctr"/>
          <a:r>
            <a:rPr lang="es-ES" sz="1800" dirty="0"/>
            <a:t>Algunas variables son muy generales y pierden detalle </a:t>
          </a:r>
          <a:r>
            <a:rPr lang="es-CO" sz="1800" i="1" dirty="0" err="1"/>
            <a:t>occupation,native</a:t>
          </a:r>
          <a:r>
            <a:rPr lang="es-CO" sz="1800" i="1" dirty="0"/>
            <a:t>_ country</a:t>
          </a:r>
          <a:endParaRPr lang="es-CO" sz="1800" dirty="0"/>
        </a:p>
      </dgm:t>
    </dgm:pt>
    <dgm:pt modelId="{C2455CE8-CEBA-4BEE-AA7B-C5823F6C3F94}" type="parTrans" cxnId="{0975F327-0DC5-4A6E-8D0A-B55428DF217A}">
      <dgm:prSet/>
      <dgm:spPr/>
      <dgm:t>
        <a:bodyPr/>
        <a:lstStyle/>
        <a:p>
          <a:endParaRPr lang="es-CO"/>
        </a:p>
      </dgm:t>
    </dgm:pt>
    <dgm:pt modelId="{B6FF2506-8135-47A8-B195-A23F6D3B307C}" type="sibTrans" cxnId="{0975F327-0DC5-4A6E-8D0A-B55428DF217A}">
      <dgm:prSet/>
      <dgm:spPr/>
      <dgm:t>
        <a:bodyPr/>
        <a:lstStyle/>
        <a:p>
          <a:endParaRPr lang="es-CO"/>
        </a:p>
      </dgm:t>
    </dgm:pt>
    <dgm:pt modelId="{2156E776-3F00-40D6-9A52-538BEEBE2077}">
      <dgm:prSet phldrT="[Texto]" custT="1"/>
      <dgm:spPr/>
      <dgm:t>
        <a:bodyPr/>
        <a:lstStyle/>
        <a:p>
          <a:pPr>
            <a:buNone/>
          </a:pPr>
          <a:endParaRPr lang="es-ES" sz="1800" dirty="0"/>
        </a:p>
        <a:p>
          <a:pPr>
            <a:buNone/>
          </a:pPr>
          <a:r>
            <a:rPr lang="es-ES" sz="1800" dirty="0"/>
            <a:t>Distribución desigual de ingresos(</a:t>
          </a:r>
          <a:r>
            <a:rPr lang="es-CO" sz="1800" b="1" dirty="0"/>
            <a:t>76% ≤50K), </a:t>
          </a:r>
          <a:r>
            <a:rPr lang="es-CO" sz="1800" b="0" dirty="0"/>
            <a:t>lo que dificulta predecir casos &gt; 50k</a:t>
          </a:r>
        </a:p>
        <a:p>
          <a:pPr>
            <a:buNone/>
          </a:pPr>
          <a:endParaRPr lang="es-CO" sz="1800" b="0" dirty="0"/>
        </a:p>
      </dgm:t>
    </dgm:pt>
    <dgm:pt modelId="{F27F0275-0C3C-4492-A5C1-3EBAA5C04031}" type="parTrans" cxnId="{998A647B-8A5A-48C6-BF70-0B15B06C1E72}">
      <dgm:prSet/>
      <dgm:spPr/>
      <dgm:t>
        <a:bodyPr/>
        <a:lstStyle/>
        <a:p>
          <a:endParaRPr lang="es-CO"/>
        </a:p>
      </dgm:t>
    </dgm:pt>
    <dgm:pt modelId="{DB4145AB-EC54-4A07-9D83-501CD0C70CEA}" type="sibTrans" cxnId="{998A647B-8A5A-48C6-BF70-0B15B06C1E72}">
      <dgm:prSet/>
      <dgm:spPr/>
      <dgm:t>
        <a:bodyPr/>
        <a:lstStyle/>
        <a:p>
          <a:endParaRPr lang="es-CO"/>
        </a:p>
      </dgm:t>
    </dgm:pt>
    <dgm:pt modelId="{474F784F-96AE-4223-8980-9E358BADBD35}">
      <dgm:prSet phldrT="[Texto]" phldr="0" custT="1"/>
      <dgm:spPr/>
      <dgm:t>
        <a:bodyPr/>
        <a:lstStyle/>
        <a:p>
          <a:r>
            <a:rPr lang="es-ES" sz="2800" dirty="0"/>
            <a:t>Restricciones del análisis</a:t>
          </a:r>
          <a:endParaRPr lang="es-CO" sz="2800" dirty="0"/>
        </a:p>
      </dgm:t>
    </dgm:pt>
    <dgm:pt modelId="{69A1C3E5-9758-46C6-9CF1-6F90142A21D2}" type="parTrans" cxnId="{A7AF4253-1FDA-40AE-ADF3-3ACCFD04175A}">
      <dgm:prSet/>
      <dgm:spPr/>
      <dgm:t>
        <a:bodyPr/>
        <a:lstStyle/>
        <a:p>
          <a:endParaRPr lang="es-CO"/>
        </a:p>
      </dgm:t>
    </dgm:pt>
    <dgm:pt modelId="{7ECA49B1-3000-4035-BDB4-5A4C997B0EF0}" type="sibTrans" cxnId="{A7AF4253-1FDA-40AE-ADF3-3ACCFD04175A}">
      <dgm:prSet/>
      <dgm:spPr/>
      <dgm:t>
        <a:bodyPr/>
        <a:lstStyle/>
        <a:p>
          <a:endParaRPr lang="es-CO"/>
        </a:p>
      </dgm:t>
    </dgm:pt>
    <dgm:pt modelId="{95F81DB0-D694-483E-95A5-CA97DDF64382}">
      <dgm:prSet phldrT="[Texto]" phldr="0"/>
      <dgm:spPr/>
      <dgm:t>
        <a:bodyPr/>
        <a:lstStyle/>
        <a:p>
          <a:pPr algn="ctr"/>
          <a:r>
            <a:rPr lang="es-ES" dirty="0" err="1"/>
            <a:t>LabelEconder</a:t>
          </a:r>
          <a:r>
            <a:rPr lang="es-ES" dirty="0"/>
            <a:t> puede introducir relaciones numéricas que no existan.</a:t>
          </a:r>
          <a:endParaRPr lang="es-CO" dirty="0"/>
        </a:p>
      </dgm:t>
    </dgm:pt>
    <dgm:pt modelId="{6A9A08B1-A8DC-4E9B-BA97-2AFD8CB1B7D8}" type="parTrans" cxnId="{9FEE1CCC-8B33-4702-A4EF-9F5435C20728}">
      <dgm:prSet/>
      <dgm:spPr/>
      <dgm:t>
        <a:bodyPr/>
        <a:lstStyle/>
        <a:p>
          <a:endParaRPr lang="es-CO"/>
        </a:p>
      </dgm:t>
    </dgm:pt>
    <dgm:pt modelId="{04DCBA37-5B0D-488B-863F-D20B89E4010F}" type="sibTrans" cxnId="{9FEE1CCC-8B33-4702-A4EF-9F5435C20728}">
      <dgm:prSet/>
      <dgm:spPr/>
      <dgm:t>
        <a:bodyPr/>
        <a:lstStyle/>
        <a:p>
          <a:endParaRPr lang="es-CO"/>
        </a:p>
      </dgm:t>
    </dgm:pt>
    <dgm:pt modelId="{4A3C4001-9824-42BE-AA68-1CC698DAD82C}">
      <dgm:prSet phldrT="[Texto]" phldr="0"/>
      <dgm:spPr/>
      <dgm:t>
        <a:bodyPr/>
        <a:lstStyle/>
        <a:p>
          <a:r>
            <a:rPr lang="es-ES" dirty="0"/>
            <a:t>La Regresión Logística solo capta relaciones lineales</a:t>
          </a:r>
          <a:endParaRPr lang="es-CO" dirty="0"/>
        </a:p>
      </dgm:t>
    </dgm:pt>
    <dgm:pt modelId="{62449DD9-90EA-4F62-BDC0-7DCA0EBDACD6}" type="parTrans" cxnId="{7E2CE8AA-FDFD-4D2C-9B57-C78B45336E99}">
      <dgm:prSet/>
      <dgm:spPr/>
      <dgm:t>
        <a:bodyPr/>
        <a:lstStyle/>
        <a:p>
          <a:endParaRPr lang="es-CO"/>
        </a:p>
      </dgm:t>
    </dgm:pt>
    <dgm:pt modelId="{E23A65BA-7744-45A2-B3D9-519084EBB361}" type="sibTrans" cxnId="{7E2CE8AA-FDFD-4D2C-9B57-C78B45336E99}">
      <dgm:prSet/>
      <dgm:spPr/>
      <dgm:t>
        <a:bodyPr/>
        <a:lstStyle/>
        <a:p>
          <a:endParaRPr lang="es-CO"/>
        </a:p>
      </dgm:t>
    </dgm:pt>
    <dgm:pt modelId="{0250A1D5-9864-4E85-BFCF-9A02C14419D0}" type="pres">
      <dgm:prSet presAssocID="{3FDC2243-2CF3-4CB3-8661-B3529354754E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01A06D5-B941-4F9C-A2D0-73DAE81350F5}" type="pres">
      <dgm:prSet presAssocID="{8C170C34-7F11-4BDC-BECE-B0B21AA394B5}" presName="root" presStyleCnt="0"/>
      <dgm:spPr/>
    </dgm:pt>
    <dgm:pt modelId="{3446DE52-7EAE-4433-9A2C-F62E2E76B00A}" type="pres">
      <dgm:prSet presAssocID="{8C170C34-7F11-4BDC-BECE-B0B21AA394B5}" presName="rootComposite" presStyleCnt="0"/>
      <dgm:spPr/>
    </dgm:pt>
    <dgm:pt modelId="{6B986D57-9A3B-4ED7-BB3B-95EC2F74E8B7}" type="pres">
      <dgm:prSet presAssocID="{8C170C34-7F11-4BDC-BECE-B0B21AA394B5}" presName="rootText" presStyleLbl="node1" presStyleIdx="0" presStyleCnt="2"/>
      <dgm:spPr/>
    </dgm:pt>
    <dgm:pt modelId="{BBDFA998-1067-4996-A4A7-B4D0F97D6EF9}" type="pres">
      <dgm:prSet presAssocID="{8C170C34-7F11-4BDC-BECE-B0B21AA394B5}" presName="rootConnector" presStyleLbl="node1" presStyleIdx="0" presStyleCnt="2"/>
      <dgm:spPr/>
    </dgm:pt>
    <dgm:pt modelId="{A63C21C7-60F6-4F71-8994-3597D424E86E}" type="pres">
      <dgm:prSet presAssocID="{8C170C34-7F11-4BDC-BECE-B0B21AA394B5}" presName="childShape" presStyleCnt="0"/>
      <dgm:spPr/>
    </dgm:pt>
    <dgm:pt modelId="{595121A3-138D-4B26-938E-77061509FC2B}" type="pres">
      <dgm:prSet presAssocID="{C2455CE8-CEBA-4BEE-AA7B-C5823F6C3F94}" presName="Name13" presStyleLbl="parChTrans1D2" presStyleIdx="0" presStyleCnt="4"/>
      <dgm:spPr/>
    </dgm:pt>
    <dgm:pt modelId="{983ECFEA-0E27-4276-B793-6179F3A842CA}" type="pres">
      <dgm:prSet presAssocID="{CC170312-5FE7-4F0B-AE6B-112BF7B18F78}" presName="childText" presStyleLbl="bgAcc1" presStyleIdx="0" presStyleCnt="4" custScaleX="98705">
        <dgm:presLayoutVars>
          <dgm:bulletEnabled val="1"/>
        </dgm:presLayoutVars>
      </dgm:prSet>
      <dgm:spPr/>
    </dgm:pt>
    <dgm:pt modelId="{9ED63180-CE19-4FB7-8175-FA06E81F170F}" type="pres">
      <dgm:prSet presAssocID="{F27F0275-0C3C-4492-A5C1-3EBAA5C04031}" presName="Name13" presStyleLbl="parChTrans1D2" presStyleIdx="1" presStyleCnt="4"/>
      <dgm:spPr/>
    </dgm:pt>
    <dgm:pt modelId="{2F886172-6687-4D92-B8C7-82508D72C0C3}" type="pres">
      <dgm:prSet presAssocID="{2156E776-3F00-40D6-9A52-538BEEBE2077}" presName="childText" presStyleLbl="bgAcc1" presStyleIdx="1" presStyleCnt="4">
        <dgm:presLayoutVars>
          <dgm:bulletEnabled val="1"/>
        </dgm:presLayoutVars>
      </dgm:prSet>
      <dgm:spPr/>
    </dgm:pt>
    <dgm:pt modelId="{6ED7B5BB-BBCF-43B0-BF84-4EF23500DF23}" type="pres">
      <dgm:prSet presAssocID="{474F784F-96AE-4223-8980-9E358BADBD35}" presName="root" presStyleCnt="0"/>
      <dgm:spPr/>
    </dgm:pt>
    <dgm:pt modelId="{386C838A-EE50-4546-BA5D-5E80CE41CF2A}" type="pres">
      <dgm:prSet presAssocID="{474F784F-96AE-4223-8980-9E358BADBD35}" presName="rootComposite" presStyleCnt="0"/>
      <dgm:spPr/>
    </dgm:pt>
    <dgm:pt modelId="{25FC008C-282E-44AF-A544-61B481EC1AF1}" type="pres">
      <dgm:prSet presAssocID="{474F784F-96AE-4223-8980-9E358BADBD35}" presName="rootText" presStyleLbl="node1" presStyleIdx="1" presStyleCnt="2"/>
      <dgm:spPr/>
    </dgm:pt>
    <dgm:pt modelId="{C74724EB-F318-4AD1-89C1-828C1103E8BB}" type="pres">
      <dgm:prSet presAssocID="{474F784F-96AE-4223-8980-9E358BADBD35}" presName="rootConnector" presStyleLbl="node1" presStyleIdx="1" presStyleCnt="2"/>
      <dgm:spPr/>
    </dgm:pt>
    <dgm:pt modelId="{1FF42327-9E4A-4923-B847-B3BF66047AD6}" type="pres">
      <dgm:prSet presAssocID="{474F784F-96AE-4223-8980-9E358BADBD35}" presName="childShape" presStyleCnt="0"/>
      <dgm:spPr/>
    </dgm:pt>
    <dgm:pt modelId="{52B3C698-87B6-443B-98DE-B075FEAC7A74}" type="pres">
      <dgm:prSet presAssocID="{6A9A08B1-A8DC-4E9B-BA97-2AFD8CB1B7D8}" presName="Name13" presStyleLbl="parChTrans1D2" presStyleIdx="2" presStyleCnt="4"/>
      <dgm:spPr/>
    </dgm:pt>
    <dgm:pt modelId="{E63401F8-90A7-495D-9ECA-10B2B0938FD6}" type="pres">
      <dgm:prSet presAssocID="{95F81DB0-D694-483E-95A5-CA97DDF64382}" presName="childText" presStyleLbl="bgAcc1" presStyleIdx="2" presStyleCnt="4">
        <dgm:presLayoutVars>
          <dgm:bulletEnabled val="1"/>
        </dgm:presLayoutVars>
      </dgm:prSet>
      <dgm:spPr/>
    </dgm:pt>
    <dgm:pt modelId="{E9D4CE09-F29A-4758-A8D9-27AD758620EF}" type="pres">
      <dgm:prSet presAssocID="{62449DD9-90EA-4F62-BDC0-7DCA0EBDACD6}" presName="Name13" presStyleLbl="parChTrans1D2" presStyleIdx="3" presStyleCnt="4"/>
      <dgm:spPr/>
    </dgm:pt>
    <dgm:pt modelId="{3BAEA1F5-0301-4EB8-B9B3-12050B0D32DA}" type="pres">
      <dgm:prSet presAssocID="{4A3C4001-9824-42BE-AA68-1CC698DAD82C}" presName="childText" presStyleLbl="bgAcc1" presStyleIdx="3" presStyleCnt="4">
        <dgm:presLayoutVars>
          <dgm:bulletEnabled val="1"/>
        </dgm:presLayoutVars>
      </dgm:prSet>
      <dgm:spPr/>
    </dgm:pt>
  </dgm:ptLst>
  <dgm:cxnLst>
    <dgm:cxn modelId="{00598F01-EDED-46C4-B348-7B10FD7168E8}" type="presOf" srcId="{474F784F-96AE-4223-8980-9E358BADBD35}" destId="{25FC008C-282E-44AF-A544-61B481EC1AF1}" srcOrd="0" destOrd="0" presId="urn:microsoft.com/office/officeart/2005/8/layout/hierarchy3"/>
    <dgm:cxn modelId="{CA82970C-8237-44E3-B999-08474C64D682}" type="presOf" srcId="{3FDC2243-2CF3-4CB3-8661-B3529354754E}" destId="{0250A1D5-9864-4E85-BFCF-9A02C14419D0}" srcOrd="0" destOrd="0" presId="urn:microsoft.com/office/officeart/2005/8/layout/hierarchy3"/>
    <dgm:cxn modelId="{9204EB1B-BB33-43FA-ADDD-A314B1A4A8C9}" type="presOf" srcId="{62449DD9-90EA-4F62-BDC0-7DCA0EBDACD6}" destId="{E9D4CE09-F29A-4758-A8D9-27AD758620EF}" srcOrd="0" destOrd="0" presId="urn:microsoft.com/office/officeart/2005/8/layout/hierarchy3"/>
    <dgm:cxn modelId="{0975F327-0DC5-4A6E-8D0A-B55428DF217A}" srcId="{8C170C34-7F11-4BDC-BECE-B0B21AA394B5}" destId="{CC170312-5FE7-4F0B-AE6B-112BF7B18F78}" srcOrd="0" destOrd="0" parTransId="{C2455CE8-CEBA-4BEE-AA7B-C5823F6C3F94}" sibTransId="{B6FF2506-8135-47A8-B195-A23F6D3B307C}"/>
    <dgm:cxn modelId="{D7B27A33-6742-406F-9C67-6C9BFE9981DC}" type="presOf" srcId="{474F784F-96AE-4223-8980-9E358BADBD35}" destId="{C74724EB-F318-4AD1-89C1-828C1103E8BB}" srcOrd="1" destOrd="0" presId="urn:microsoft.com/office/officeart/2005/8/layout/hierarchy3"/>
    <dgm:cxn modelId="{6230BF3B-9AEF-41AF-A2DB-70D00398A82C}" type="presOf" srcId="{2156E776-3F00-40D6-9A52-538BEEBE2077}" destId="{2F886172-6687-4D92-B8C7-82508D72C0C3}" srcOrd="0" destOrd="0" presId="urn:microsoft.com/office/officeart/2005/8/layout/hierarchy3"/>
    <dgm:cxn modelId="{BEEC6F70-3CD7-4D0C-8C6E-E5286F451766}" type="presOf" srcId="{95F81DB0-D694-483E-95A5-CA97DDF64382}" destId="{E63401F8-90A7-495D-9ECA-10B2B0938FD6}" srcOrd="0" destOrd="0" presId="urn:microsoft.com/office/officeart/2005/8/layout/hierarchy3"/>
    <dgm:cxn modelId="{A7AF4253-1FDA-40AE-ADF3-3ACCFD04175A}" srcId="{3FDC2243-2CF3-4CB3-8661-B3529354754E}" destId="{474F784F-96AE-4223-8980-9E358BADBD35}" srcOrd="1" destOrd="0" parTransId="{69A1C3E5-9758-46C6-9CF1-6F90142A21D2}" sibTransId="{7ECA49B1-3000-4035-BDB4-5A4C997B0EF0}"/>
    <dgm:cxn modelId="{788FA258-946B-4CE9-B9CD-D9D91BD7E610}" type="presOf" srcId="{C2455CE8-CEBA-4BEE-AA7B-C5823F6C3F94}" destId="{595121A3-138D-4B26-938E-77061509FC2B}" srcOrd="0" destOrd="0" presId="urn:microsoft.com/office/officeart/2005/8/layout/hierarchy3"/>
    <dgm:cxn modelId="{998A647B-8A5A-48C6-BF70-0B15B06C1E72}" srcId="{8C170C34-7F11-4BDC-BECE-B0B21AA394B5}" destId="{2156E776-3F00-40D6-9A52-538BEEBE2077}" srcOrd="1" destOrd="0" parTransId="{F27F0275-0C3C-4492-A5C1-3EBAA5C04031}" sibTransId="{DB4145AB-EC54-4A07-9D83-501CD0C70CEA}"/>
    <dgm:cxn modelId="{F4DCF986-3410-4D0C-952A-F50BF1F7ACD1}" type="presOf" srcId="{8C170C34-7F11-4BDC-BECE-B0B21AA394B5}" destId="{6B986D57-9A3B-4ED7-BB3B-95EC2F74E8B7}" srcOrd="0" destOrd="0" presId="urn:microsoft.com/office/officeart/2005/8/layout/hierarchy3"/>
    <dgm:cxn modelId="{EF1CAC91-1592-44C8-9713-4E6E29A6A430}" type="presOf" srcId="{8C170C34-7F11-4BDC-BECE-B0B21AA394B5}" destId="{BBDFA998-1067-4996-A4A7-B4D0F97D6EF9}" srcOrd="1" destOrd="0" presId="urn:microsoft.com/office/officeart/2005/8/layout/hierarchy3"/>
    <dgm:cxn modelId="{7E2CE8AA-FDFD-4D2C-9B57-C78B45336E99}" srcId="{474F784F-96AE-4223-8980-9E358BADBD35}" destId="{4A3C4001-9824-42BE-AA68-1CC698DAD82C}" srcOrd="1" destOrd="0" parTransId="{62449DD9-90EA-4F62-BDC0-7DCA0EBDACD6}" sibTransId="{E23A65BA-7744-45A2-B3D9-519084EBB361}"/>
    <dgm:cxn modelId="{85D516AB-A811-4969-A5D6-2BE640D42A3D}" type="presOf" srcId="{CC170312-5FE7-4F0B-AE6B-112BF7B18F78}" destId="{983ECFEA-0E27-4276-B793-6179F3A842CA}" srcOrd="0" destOrd="0" presId="urn:microsoft.com/office/officeart/2005/8/layout/hierarchy3"/>
    <dgm:cxn modelId="{A10EA9AE-F240-4708-9B8A-384A10F59C33}" type="presOf" srcId="{F27F0275-0C3C-4492-A5C1-3EBAA5C04031}" destId="{9ED63180-CE19-4FB7-8175-FA06E81F170F}" srcOrd="0" destOrd="0" presId="urn:microsoft.com/office/officeart/2005/8/layout/hierarchy3"/>
    <dgm:cxn modelId="{8C50CFB5-6083-4B6D-84A3-BADC68017844}" srcId="{3FDC2243-2CF3-4CB3-8661-B3529354754E}" destId="{8C170C34-7F11-4BDC-BECE-B0B21AA394B5}" srcOrd="0" destOrd="0" parTransId="{2EC01465-790D-4ED8-8E52-AC7E33D337B1}" sibTransId="{1DC9420D-C03E-480F-9622-DCA57586A130}"/>
    <dgm:cxn modelId="{87689CB9-647C-46B8-A46B-22CD75789E99}" type="presOf" srcId="{6A9A08B1-A8DC-4E9B-BA97-2AFD8CB1B7D8}" destId="{52B3C698-87B6-443B-98DE-B075FEAC7A74}" srcOrd="0" destOrd="0" presId="urn:microsoft.com/office/officeart/2005/8/layout/hierarchy3"/>
    <dgm:cxn modelId="{9FEE1CCC-8B33-4702-A4EF-9F5435C20728}" srcId="{474F784F-96AE-4223-8980-9E358BADBD35}" destId="{95F81DB0-D694-483E-95A5-CA97DDF64382}" srcOrd="0" destOrd="0" parTransId="{6A9A08B1-A8DC-4E9B-BA97-2AFD8CB1B7D8}" sibTransId="{04DCBA37-5B0D-488B-863F-D20B89E4010F}"/>
    <dgm:cxn modelId="{19FE11DD-507A-43F2-86AF-334F1C2BF2D6}" type="presOf" srcId="{4A3C4001-9824-42BE-AA68-1CC698DAD82C}" destId="{3BAEA1F5-0301-4EB8-B9B3-12050B0D32DA}" srcOrd="0" destOrd="0" presId="urn:microsoft.com/office/officeart/2005/8/layout/hierarchy3"/>
    <dgm:cxn modelId="{3E307CB0-A015-4F82-9624-EE9574D001CD}" type="presParOf" srcId="{0250A1D5-9864-4E85-BFCF-9A02C14419D0}" destId="{D01A06D5-B941-4F9C-A2D0-73DAE81350F5}" srcOrd="0" destOrd="0" presId="urn:microsoft.com/office/officeart/2005/8/layout/hierarchy3"/>
    <dgm:cxn modelId="{FEAF9CE8-7AFA-49FD-AB7A-805076144DFC}" type="presParOf" srcId="{D01A06D5-B941-4F9C-A2D0-73DAE81350F5}" destId="{3446DE52-7EAE-4433-9A2C-F62E2E76B00A}" srcOrd="0" destOrd="0" presId="urn:microsoft.com/office/officeart/2005/8/layout/hierarchy3"/>
    <dgm:cxn modelId="{1138C88E-17C4-4E4B-831D-4D5060FDA923}" type="presParOf" srcId="{3446DE52-7EAE-4433-9A2C-F62E2E76B00A}" destId="{6B986D57-9A3B-4ED7-BB3B-95EC2F74E8B7}" srcOrd="0" destOrd="0" presId="urn:microsoft.com/office/officeart/2005/8/layout/hierarchy3"/>
    <dgm:cxn modelId="{91D4804F-7B36-4E47-B9FB-98AD3ABD4BBF}" type="presParOf" srcId="{3446DE52-7EAE-4433-9A2C-F62E2E76B00A}" destId="{BBDFA998-1067-4996-A4A7-B4D0F97D6EF9}" srcOrd="1" destOrd="0" presId="urn:microsoft.com/office/officeart/2005/8/layout/hierarchy3"/>
    <dgm:cxn modelId="{AAFD9189-6DEC-4165-94B4-D0948D3EA335}" type="presParOf" srcId="{D01A06D5-B941-4F9C-A2D0-73DAE81350F5}" destId="{A63C21C7-60F6-4F71-8994-3597D424E86E}" srcOrd="1" destOrd="0" presId="urn:microsoft.com/office/officeart/2005/8/layout/hierarchy3"/>
    <dgm:cxn modelId="{CDB15798-8481-4CB0-AE29-1351F206CB24}" type="presParOf" srcId="{A63C21C7-60F6-4F71-8994-3597D424E86E}" destId="{595121A3-138D-4B26-938E-77061509FC2B}" srcOrd="0" destOrd="0" presId="urn:microsoft.com/office/officeart/2005/8/layout/hierarchy3"/>
    <dgm:cxn modelId="{257932E2-E51E-4148-82B9-44BB7F4B2B8E}" type="presParOf" srcId="{A63C21C7-60F6-4F71-8994-3597D424E86E}" destId="{983ECFEA-0E27-4276-B793-6179F3A842CA}" srcOrd="1" destOrd="0" presId="urn:microsoft.com/office/officeart/2005/8/layout/hierarchy3"/>
    <dgm:cxn modelId="{D6A0CDE4-4B95-4030-BE6C-28A18D584F9D}" type="presParOf" srcId="{A63C21C7-60F6-4F71-8994-3597D424E86E}" destId="{9ED63180-CE19-4FB7-8175-FA06E81F170F}" srcOrd="2" destOrd="0" presId="urn:microsoft.com/office/officeart/2005/8/layout/hierarchy3"/>
    <dgm:cxn modelId="{6DC9F620-46CF-4A3F-AE67-F822211F7516}" type="presParOf" srcId="{A63C21C7-60F6-4F71-8994-3597D424E86E}" destId="{2F886172-6687-4D92-B8C7-82508D72C0C3}" srcOrd="3" destOrd="0" presId="urn:microsoft.com/office/officeart/2005/8/layout/hierarchy3"/>
    <dgm:cxn modelId="{01E052B8-1D5F-453E-83EA-E5F201C97E82}" type="presParOf" srcId="{0250A1D5-9864-4E85-BFCF-9A02C14419D0}" destId="{6ED7B5BB-BBCF-43B0-BF84-4EF23500DF23}" srcOrd="1" destOrd="0" presId="urn:microsoft.com/office/officeart/2005/8/layout/hierarchy3"/>
    <dgm:cxn modelId="{70382E76-D4D9-4C18-AD85-17419BA699F9}" type="presParOf" srcId="{6ED7B5BB-BBCF-43B0-BF84-4EF23500DF23}" destId="{386C838A-EE50-4546-BA5D-5E80CE41CF2A}" srcOrd="0" destOrd="0" presId="urn:microsoft.com/office/officeart/2005/8/layout/hierarchy3"/>
    <dgm:cxn modelId="{44EFA9F1-7329-4016-A17A-2A414C99AFBC}" type="presParOf" srcId="{386C838A-EE50-4546-BA5D-5E80CE41CF2A}" destId="{25FC008C-282E-44AF-A544-61B481EC1AF1}" srcOrd="0" destOrd="0" presId="urn:microsoft.com/office/officeart/2005/8/layout/hierarchy3"/>
    <dgm:cxn modelId="{3BC7662D-B80C-4E61-88AF-192320C3CA14}" type="presParOf" srcId="{386C838A-EE50-4546-BA5D-5E80CE41CF2A}" destId="{C74724EB-F318-4AD1-89C1-828C1103E8BB}" srcOrd="1" destOrd="0" presId="urn:microsoft.com/office/officeart/2005/8/layout/hierarchy3"/>
    <dgm:cxn modelId="{0C2360A9-CBD0-401C-8D18-61F8C72F565D}" type="presParOf" srcId="{6ED7B5BB-BBCF-43B0-BF84-4EF23500DF23}" destId="{1FF42327-9E4A-4923-B847-B3BF66047AD6}" srcOrd="1" destOrd="0" presId="urn:microsoft.com/office/officeart/2005/8/layout/hierarchy3"/>
    <dgm:cxn modelId="{43F384D1-FD41-4BF7-B533-2B9D1445A8C9}" type="presParOf" srcId="{1FF42327-9E4A-4923-B847-B3BF66047AD6}" destId="{52B3C698-87B6-443B-98DE-B075FEAC7A74}" srcOrd="0" destOrd="0" presId="urn:microsoft.com/office/officeart/2005/8/layout/hierarchy3"/>
    <dgm:cxn modelId="{A7BB403E-22E6-46BD-8441-CC4A0BDF6584}" type="presParOf" srcId="{1FF42327-9E4A-4923-B847-B3BF66047AD6}" destId="{E63401F8-90A7-495D-9ECA-10B2B0938FD6}" srcOrd="1" destOrd="0" presId="urn:microsoft.com/office/officeart/2005/8/layout/hierarchy3"/>
    <dgm:cxn modelId="{D2AE9B5B-4ED0-4A29-AA2A-9A6EC1B7A5E4}" type="presParOf" srcId="{1FF42327-9E4A-4923-B847-B3BF66047AD6}" destId="{E9D4CE09-F29A-4758-A8D9-27AD758620EF}" srcOrd="2" destOrd="0" presId="urn:microsoft.com/office/officeart/2005/8/layout/hierarchy3"/>
    <dgm:cxn modelId="{6AF9A13D-E695-430B-BB67-4DEDEC526746}" type="presParOf" srcId="{1FF42327-9E4A-4923-B847-B3BF66047AD6}" destId="{3BAEA1F5-0301-4EB8-B9B3-12050B0D32DA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E02A55-1A88-4143-8DAA-0F37C8577EBE}">
      <dsp:nvSpPr>
        <dsp:cNvPr id="0" name=""/>
        <dsp:cNvSpPr/>
      </dsp:nvSpPr>
      <dsp:spPr>
        <a:xfrm rot="16200000">
          <a:off x="-1816905" y="2784569"/>
          <a:ext cx="4227110" cy="468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12768" bIns="0" numCol="1" spcCol="1270" anchor="t" anchorCtr="0">
          <a:noAutofit/>
        </a:bodyPr>
        <a:lstStyle/>
        <a:p>
          <a:pPr marL="0" lvl="0" indent="0" algn="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500" b="1" kern="1200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Descripción General</a:t>
          </a:r>
        </a:p>
      </dsp:txBody>
      <dsp:txXfrm>
        <a:off x="-1816905" y="2784569"/>
        <a:ext cx="4227110" cy="468020"/>
      </dsp:txXfrm>
    </dsp:sp>
    <dsp:sp modelId="{6D6961CB-3962-44B1-8083-07C28EEF28FF}">
      <dsp:nvSpPr>
        <dsp:cNvPr id="0" name=""/>
        <dsp:cNvSpPr/>
      </dsp:nvSpPr>
      <dsp:spPr>
        <a:xfrm>
          <a:off x="530660" y="905024"/>
          <a:ext cx="2331240" cy="422711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412768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s-ES" sz="1600" b="1" kern="1200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Dataset: </a:t>
          </a:r>
          <a:r>
            <a:rPr lang="es-ES" sz="1600" b="1" kern="1200" cap="none" spc="50" dirty="0" err="1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Adult</a:t>
          </a:r>
          <a:r>
            <a:rPr lang="es-ES" sz="1600" b="1" kern="1200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 </a:t>
          </a:r>
          <a:r>
            <a:rPr lang="es-ES" sz="1600" b="1" kern="1200" cap="none" spc="50" dirty="0" err="1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Income</a:t>
          </a:r>
          <a:r>
            <a:rPr lang="es-ES" sz="1600" b="1" kern="1200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 (Censo de EE. UU)</a:t>
          </a:r>
          <a:endParaRPr lang="es-CO" sz="1600" b="1" kern="1200" cap="none" spc="50" dirty="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s-CO" sz="1600" b="1" kern="1200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Total de registros: 32 561 personas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s-ES" sz="1600" b="1" kern="1200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Variables: 15 (6 numéricas y 9 categóricas)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s-ES" sz="1600" b="1" kern="1200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Variable objetivo: INCOME (&lt;=50K o &gt;50K)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1600" b="1" kern="1200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Fuente: UCI Machine Learning Repository</a:t>
          </a:r>
        </a:p>
      </dsp:txBody>
      <dsp:txXfrm>
        <a:off x="530660" y="905024"/>
        <a:ext cx="2331240" cy="4227110"/>
      </dsp:txXfrm>
    </dsp:sp>
    <dsp:sp modelId="{64F94143-0B4C-4360-B16E-24904061D1D5}">
      <dsp:nvSpPr>
        <dsp:cNvPr id="0" name=""/>
        <dsp:cNvSpPr/>
      </dsp:nvSpPr>
      <dsp:spPr>
        <a:xfrm>
          <a:off x="0" y="0"/>
          <a:ext cx="936041" cy="936041"/>
        </a:xfrm>
        <a:prstGeom prst="rect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9B8A0C69-CEF7-4166-B745-83E178D2C72A}">
      <dsp:nvSpPr>
        <dsp:cNvPr id="0" name=""/>
        <dsp:cNvSpPr/>
      </dsp:nvSpPr>
      <dsp:spPr>
        <a:xfrm rot="16200000">
          <a:off x="1584631" y="2784569"/>
          <a:ext cx="4227110" cy="468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12768" bIns="0" numCol="1" spcCol="1270" anchor="t" anchorCtr="0">
          <a:noAutofit/>
        </a:bodyPr>
        <a:lstStyle/>
        <a:p>
          <a:pPr marL="0" lvl="0" indent="0" algn="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500" b="1" kern="1200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Procesamiento de datos</a:t>
          </a:r>
        </a:p>
      </dsp:txBody>
      <dsp:txXfrm>
        <a:off x="1584631" y="2784569"/>
        <a:ext cx="4227110" cy="468020"/>
      </dsp:txXfrm>
    </dsp:sp>
    <dsp:sp modelId="{1016AA7B-D221-4FFB-97CE-D9EF9F0825D8}">
      <dsp:nvSpPr>
        <dsp:cNvPr id="0" name=""/>
        <dsp:cNvSpPr/>
      </dsp:nvSpPr>
      <dsp:spPr>
        <a:xfrm>
          <a:off x="3932197" y="905024"/>
          <a:ext cx="2331240" cy="422711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412768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endParaRPr lang="es-CO" sz="1600" b="1" kern="1200" cap="none" spc="50" dirty="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s-CO" sz="1600" b="1" kern="1200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Se limpiaron duplicados y valores faltantes, completando datos numéricos con la mediana y categóricos con la moda. Se codificaron variables con </a:t>
          </a:r>
          <a:r>
            <a:rPr lang="es-CO" sz="1600" b="1" i="1" kern="1200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 </a:t>
          </a:r>
          <a:r>
            <a:rPr lang="es-CO" sz="1600" b="1" i="1" kern="1200" cap="none" spc="50" dirty="0" err="1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LabelEncoderMinMaxScaler</a:t>
          </a:r>
          <a:endParaRPr lang="es-CO" sz="1600" b="1" kern="1200" cap="none" spc="50" dirty="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3932197" y="905024"/>
        <a:ext cx="2331240" cy="4227110"/>
      </dsp:txXfrm>
    </dsp:sp>
    <dsp:sp modelId="{A63BD669-98A9-405C-8224-49B7FAECE735}">
      <dsp:nvSpPr>
        <dsp:cNvPr id="0" name=""/>
        <dsp:cNvSpPr/>
      </dsp:nvSpPr>
      <dsp:spPr>
        <a:xfrm>
          <a:off x="3464176" y="287237"/>
          <a:ext cx="936041" cy="936041"/>
        </a:xfrm>
        <a:prstGeom prst="rect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AC603FA-9903-40D7-95B4-A99B8C7E5E23}">
      <dsp:nvSpPr>
        <dsp:cNvPr id="0" name=""/>
        <dsp:cNvSpPr/>
      </dsp:nvSpPr>
      <dsp:spPr>
        <a:xfrm rot="16200000">
          <a:off x="4986169" y="2784569"/>
          <a:ext cx="4227110" cy="468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12768" bIns="0" numCol="1" spcCol="1270" anchor="t" anchorCtr="0">
          <a:noAutofit/>
        </a:bodyPr>
        <a:lstStyle/>
        <a:p>
          <a:pPr marL="0" lvl="0" indent="0" algn="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500" b="1" kern="1200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Hallazgos descriptivos</a:t>
          </a:r>
        </a:p>
      </dsp:txBody>
      <dsp:txXfrm>
        <a:off x="4986169" y="2784569"/>
        <a:ext cx="4227110" cy="468020"/>
      </dsp:txXfrm>
    </dsp:sp>
    <dsp:sp modelId="{950C4686-FE50-46A5-87A7-9A548967715E}">
      <dsp:nvSpPr>
        <dsp:cNvPr id="0" name=""/>
        <dsp:cNvSpPr/>
      </dsp:nvSpPr>
      <dsp:spPr>
        <a:xfrm>
          <a:off x="7333734" y="905024"/>
          <a:ext cx="2331240" cy="422711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412768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s-CO" sz="1600" b="1" kern="1200" cap="none" spc="50" dirty="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s-ES" sz="1600" b="1" kern="1200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Predomina la población con ingresos ≤ 50 000 USD (76 %), nivel educativo medio, y mayoría masculina (67 %).</a:t>
          </a:r>
          <a:br>
            <a:rPr lang="es-ES" sz="1600" b="1" kern="1200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</a:br>
          <a:r>
            <a:rPr lang="es-ES" sz="1600" b="1" kern="1200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La mayoría son adultos entre 25 y 50 años con jornadas cercanas a 40 horas semanales.</a:t>
          </a:r>
          <a:endParaRPr lang="es-CO" sz="1600" b="1" kern="1200" cap="none" spc="50" dirty="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7333734" y="905024"/>
        <a:ext cx="2331240" cy="4227110"/>
      </dsp:txXfrm>
    </dsp:sp>
    <dsp:sp modelId="{E4CF92BF-3AE9-4216-ACC5-DFEC80C9B1D2}">
      <dsp:nvSpPr>
        <dsp:cNvPr id="0" name=""/>
        <dsp:cNvSpPr/>
      </dsp:nvSpPr>
      <dsp:spPr>
        <a:xfrm>
          <a:off x="6865713" y="287237"/>
          <a:ext cx="936041" cy="936041"/>
        </a:xfrm>
        <a:prstGeom prst="rect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986D57-9A3B-4ED7-BB3B-95EC2F74E8B7}">
      <dsp:nvSpPr>
        <dsp:cNvPr id="0" name=""/>
        <dsp:cNvSpPr/>
      </dsp:nvSpPr>
      <dsp:spPr>
        <a:xfrm>
          <a:off x="315870" y="2324"/>
          <a:ext cx="2865737" cy="143286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 dirty="0"/>
            <a:t>Limitaciones del </a:t>
          </a:r>
          <a:r>
            <a:rPr lang="es-ES" sz="2800" kern="1200" dirty="0" err="1"/>
            <a:t>Dataset</a:t>
          </a:r>
          <a:endParaRPr lang="es-CO" sz="2800" kern="1200" dirty="0"/>
        </a:p>
      </dsp:txBody>
      <dsp:txXfrm>
        <a:off x="357837" y="44291"/>
        <a:ext cx="2781803" cy="1348934"/>
      </dsp:txXfrm>
    </dsp:sp>
    <dsp:sp modelId="{595121A3-138D-4B26-938E-77061509FC2B}">
      <dsp:nvSpPr>
        <dsp:cNvPr id="0" name=""/>
        <dsp:cNvSpPr/>
      </dsp:nvSpPr>
      <dsp:spPr>
        <a:xfrm>
          <a:off x="602444" y="1435192"/>
          <a:ext cx="286573" cy="10746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4651"/>
              </a:lnTo>
              <a:lnTo>
                <a:pt x="286573" y="1074651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3ECFEA-0E27-4276-B793-6179F3A842CA}">
      <dsp:nvSpPr>
        <dsp:cNvPr id="0" name=""/>
        <dsp:cNvSpPr/>
      </dsp:nvSpPr>
      <dsp:spPr>
        <a:xfrm>
          <a:off x="889018" y="1793410"/>
          <a:ext cx="2262901" cy="1432868"/>
        </a:xfrm>
        <a:prstGeom prst="roundRect">
          <a:avLst>
            <a:gd name="adj" fmla="val 10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Algunas variables son muy generales y pierden detalle </a:t>
          </a:r>
          <a:r>
            <a:rPr lang="es-CO" sz="1800" i="1" kern="1200" dirty="0" err="1"/>
            <a:t>occupation,native</a:t>
          </a:r>
          <a:r>
            <a:rPr lang="es-CO" sz="1800" i="1" kern="1200" dirty="0"/>
            <a:t>_ country</a:t>
          </a:r>
          <a:endParaRPr lang="es-CO" sz="1800" kern="1200" dirty="0"/>
        </a:p>
      </dsp:txBody>
      <dsp:txXfrm>
        <a:off x="930985" y="1835377"/>
        <a:ext cx="2178967" cy="1348934"/>
      </dsp:txXfrm>
    </dsp:sp>
    <dsp:sp modelId="{9ED63180-CE19-4FB7-8175-FA06E81F170F}">
      <dsp:nvSpPr>
        <dsp:cNvPr id="0" name=""/>
        <dsp:cNvSpPr/>
      </dsp:nvSpPr>
      <dsp:spPr>
        <a:xfrm>
          <a:off x="602444" y="1435192"/>
          <a:ext cx="286573" cy="28657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65737"/>
              </a:lnTo>
              <a:lnTo>
                <a:pt x="286573" y="2865737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886172-6687-4D92-B8C7-82508D72C0C3}">
      <dsp:nvSpPr>
        <dsp:cNvPr id="0" name=""/>
        <dsp:cNvSpPr/>
      </dsp:nvSpPr>
      <dsp:spPr>
        <a:xfrm>
          <a:off x="889018" y="3584496"/>
          <a:ext cx="2292590" cy="1432868"/>
        </a:xfrm>
        <a:prstGeom prst="roundRect">
          <a:avLst>
            <a:gd name="adj" fmla="val 10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80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Distribución desigual de ingresos(</a:t>
          </a:r>
          <a:r>
            <a:rPr lang="es-CO" sz="1800" b="1" kern="1200" dirty="0"/>
            <a:t>76% ≤50K), </a:t>
          </a:r>
          <a:r>
            <a:rPr lang="es-CO" sz="1800" b="0" kern="1200" dirty="0"/>
            <a:t>lo que dificulta predecir casos &gt; 50k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1800" b="0" kern="1200" dirty="0"/>
        </a:p>
      </dsp:txBody>
      <dsp:txXfrm>
        <a:off x="930985" y="3626463"/>
        <a:ext cx="2208656" cy="1348934"/>
      </dsp:txXfrm>
    </dsp:sp>
    <dsp:sp modelId="{25FC008C-282E-44AF-A544-61B481EC1AF1}">
      <dsp:nvSpPr>
        <dsp:cNvPr id="0" name=""/>
        <dsp:cNvSpPr/>
      </dsp:nvSpPr>
      <dsp:spPr>
        <a:xfrm>
          <a:off x="3898042" y="2324"/>
          <a:ext cx="2865737" cy="143286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 dirty="0"/>
            <a:t>Restricciones del análisis</a:t>
          </a:r>
          <a:endParaRPr lang="es-CO" sz="2800" kern="1200" dirty="0"/>
        </a:p>
      </dsp:txBody>
      <dsp:txXfrm>
        <a:off x="3940009" y="44291"/>
        <a:ext cx="2781803" cy="1348934"/>
      </dsp:txXfrm>
    </dsp:sp>
    <dsp:sp modelId="{52B3C698-87B6-443B-98DE-B075FEAC7A74}">
      <dsp:nvSpPr>
        <dsp:cNvPr id="0" name=""/>
        <dsp:cNvSpPr/>
      </dsp:nvSpPr>
      <dsp:spPr>
        <a:xfrm>
          <a:off x="4184616" y="1435192"/>
          <a:ext cx="286573" cy="10746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4651"/>
              </a:lnTo>
              <a:lnTo>
                <a:pt x="286573" y="1074651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3401F8-90A7-495D-9ECA-10B2B0938FD6}">
      <dsp:nvSpPr>
        <dsp:cNvPr id="0" name=""/>
        <dsp:cNvSpPr/>
      </dsp:nvSpPr>
      <dsp:spPr>
        <a:xfrm>
          <a:off x="4471190" y="1793410"/>
          <a:ext cx="2292590" cy="1432868"/>
        </a:xfrm>
        <a:prstGeom prst="roundRect">
          <a:avLst>
            <a:gd name="adj" fmla="val 10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 err="1"/>
            <a:t>LabelEconder</a:t>
          </a:r>
          <a:r>
            <a:rPr lang="es-ES" sz="1900" kern="1200" dirty="0"/>
            <a:t> puede introducir relaciones numéricas que no existan.</a:t>
          </a:r>
          <a:endParaRPr lang="es-CO" sz="1900" kern="1200" dirty="0"/>
        </a:p>
      </dsp:txBody>
      <dsp:txXfrm>
        <a:off x="4513157" y="1835377"/>
        <a:ext cx="2208656" cy="1348934"/>
      </dsp:txXfrm>
    </dsp:sp>
    <dsp:sp modelId="{E9D4CE09-F29A-4758-A8D9-27AD758620EF}">
      <dsp:nvSpPr>
        <dsp:cNvPr id="0" name=""/>
        <dsp:cNvSpPr/>
      </dsp:nvSpPr>
      <dsp:spPr>
        <a:xfrm>
          <a:off x="4184616" y="1435192"/>
          <a:ext cx="286573" cy="28657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65737"/>
              </a:lnTo>
              <a:lnTo>
                <a:pt x="286573" y="2865737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AEA1F5-0301-4EB8-B9B3-12050B0D32DA}">
      <dsp:nvSpPr>
        <dsp:cNvPr id="0" name=""/>
        <dsp:cNvSpPr/>
      </dsp:nvSpPr>
      <dsp:spPr>
        <a:xfrm>
          <a:off x="4471190" y="3584496"/>
          <a:ext cx="2292590" cy="1432868"/>
        </a:xfrm>
        <a:prstGeom prst="roundRect">
          <a:avLst>
            <a:gd name="adj" fmla="val 10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La Regresión Logística solo capta relaciones lineales</a:t>
          </a:r>
          <a:endParaRPr lang="es-CO" sz="1900" kern="1200" dirty="0"/>
        </a:p>
      </dsp:txBody>
      <dsp:txXfrm>
        <a:off x="4513157" y="3626463"/>
        <a:ext cx="2208656" cy="13489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323624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36345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Esta diapositiva tiene animaciones, es interactiva.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60087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4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>
  <p:cSld name="Título y objetos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33" y="0"/>
            <a:ext cx="1218072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61" y="1388"/>
            <a:ext cx="12187066" cy="6855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963211" y="4406902"/>
            <a:ext cx="1036455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19"/>
              <a:buFont typeface="Calibri"/>
              <a:buNone/>
              <a:defRPr sz="481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963211" y="2906715"/>
            <a:ext cx="103645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69"/>
              </a:spcBef>
              <a:spcAft>
                <a:spcPts val="0"/>
              </a:spcAft>
              <a:buClr>
                <a:srgbClr val="888888"/>
              </a:buClr>
              <a:buSzPts val="2344"/>
              <a:buFont typeface="Arial"/>
              <a:buNone/>
              <a:defRPr sz="234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43"/>
              </a:spcBef>
              <a:spcAft>
                <a:spcPts val="0"/>
              </a:spcAft>
              <a:buClr>
                <a:srgbClr val="888888"/>
              </a:buClr>
              <a:buSzPts val="2214"/>
              <a:buFont typeface="Arial"/>
              <a:buNone/>
              <a:defRPr sz="221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91"/>
              </a:spcBef>
              <a:spcAft>
                <a:spcPts val="0"/>
              </a:spcAft>
              <a:buClr>
                <a:srgbClr val="888888"/>
              </a:buClr>
              <a:buSzPts val="1954"/>
              <a:buFont typeface="Arial"/>
              <a:buNone/>
              <a:defRPr sz="195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40"/>
              <a:buFont typeface="Calibri"/>
              <a:buNone/>
              <a:defRPr sz="53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1"/>
          </p:nvPr>
        </p:nvSpPr>
        <p:spPr>
          <a:xfrm>
            <a:off x="609679" y="1600200"/>
            <a:ext cx="5385501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43674" algn="l" rtl="0">
              <a:spcBef>
                <a:spcPts val="677"/>
              </a:spcBef>
              <a:spcAft>
                <a:spcPts val="0"/>
              </a:spcAft>
              <a:buClr>
                <a:schemeClr val="dk1"/>
              </a:buClr>
              <a:buSzPts val="3387"/>
              <a:buFont typeface="Arial"/>
              <a:buChar char="•"/>
              <a:defRPr sz="33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0527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–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–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»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2"/>
          </p:nvPr>
        </p:nvSpPr>
        <p:spPr>
          <a:xfrm>
            <a:off x="6198409" y="1600200"/>
            <a:ext cx="5385501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43674" algn="l" rtl="0">
              <a:spcBef>
                <a:spcPts val="677"/>
              </a:spcBef>
              <a:spcAft>
                <a:spcPts val="0"/>
              </a:spcAft>
              <a:buClr>
                <a:schemeClr val="dk1"/>
              </a:buClr>
              <a:buSzPts val="3387"/>
              <a:buFont typeface="Arial"/>
              <a:buChar char="•"/>
              <a:defRPr sz="33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0527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–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–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»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40"/>
              <a:buFont typeface="Calibri"/>
              <a:buNone/>
              <a:defRPr sz="53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609679" y="1535113"/>
            <a:ext cx="5387619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None/>
              <a:defRPr sz="2865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None/>
              <a:defRPr sz="234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None/>
              <a:defRPr sz="221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2"/>
          </p:nvPr>
        </p:nvSpPr>
        <p:spPr>
          <a:xfrm>
            <a:off x="609679" y="2174876"/>
            <a:ext cx="5387619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10527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•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–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2679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–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2679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»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2679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2679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2678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2678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3"/>
          </p:nvPr>
        </p:nvSpPr>
        <p:spPr>
          <a:xfrm>
            <a:off x="6194176" y="1535113"/>
            <a:ext cx="5389735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None/>
              <a:defRPr sz="2865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None/>
              <a:defRPr sz="234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None/>
              <a:defRPr sz="221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4"/>
          </p:nvPr>
        </p:nvSpPr>
        <p:spPr>
          <a:xfrm>
            <a:off x="6194176" y="2174876"/>
            <a:ext cx="538973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10527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•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–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2679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–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2679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»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2679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2679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2678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2678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40"/>
              <a:buFont typeface="Calibri"/>
              <a:buNone/>
              <a:defRPr sz="53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609682" y="273051"/>
            <a:ext cx="4011605" cy="1162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44"/>
              <a:buFont typeface="Calibri"/>
              <a:buNone/>
              <a:defRPr sz="234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1"/>
          </p:nvPr>
        </p:nvSpPr>
        <p:spPr>
          <a:xfrm>
            <a:off x="4767355" y="273051"/>
            <a:ext cx="6816554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76694" algn="l" rtl="0">
              <a:spcBef>
                <a:spcPts val="781"/>
              </a:spcBef>
              <a:spcAft>
                <a:spcPts val="0"/>
              </a:spcAft>
              <a:buClr>
                <a:schemeClr val="dk1"/>
              </a:buClr>
              <a:buSzPts val="3907"/>
              <a:buFont typeface="Arial"/>
              <a:buChar char="•"/>
              <a:defRPr sz="39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43674" algn="l" rtl="0">
              <a:spcBef>
                <a:spcPts val="677"/>
              </a:spcBef>
              <a:spcAft>
                <a:spcPts val="0"/>
              </a:spcAft>
              <a:buClr>
                <a:schemeClr val="dk1"/>
              </a:buClr>
              <a:buSzPts val="3387"/>
              <a:buFont typeface="Arial"/>
              <a:buChar char="–"/>
              <a:defRPr sz="33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10527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•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–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»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609682" y="1435102"/>
            <a:ext cx="4011605" cy="4691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39"/>
              </a:spcBef>
              <a:spcAft>
                <a:spcPts val="0"/>
              </a:spcAft>
              <a:buClr>
                <a:schemeClr val="dk1"/>
              </a:buClr>
              <a:buSzPts val="1693"/>
              <a:buFont typeface="Arial"/>
              <a:buNone/>
              <a:defRPr sz="16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87"/>
              </a:spcBef>
              <a:spcAft>
                <a:spcPts val="0"/>
              </a:spcAft>
              <a:buClr>
                <a:schemeClr val="dk1"/>
              </a:buClr>
              <a:buSzPts val="1433"/>
              <a:buFont typeface="Arial"/>
              <a:buNone/>
              <a:defRPr sz="14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34"/>
              </a:spcBef>
              <a:spcAft>
                <a:spcPts val="0"/>
              </a:spcAft>
              <a:buClr>
                <a:schemeClr val="dk1"/>
              </a:buClr>
              <a:buSzPts val="1172"/>
              <a:buFont typeface="Arial"/>
              <a:buNone/>
              <a:defRPr sz="117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>
            <a:spLocks noGrp="1"/>
          </p:cNvSpPr>
          <p:nvPr>
            <p:ph type="title"/>
          </p:nvPr>
        </p:nvSpPr>
        <p:spPr>
          <a:xfrm>
            <a:off x="2390029" y="4800599"/>
            <a:ext cx="7316153" cy="56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44"/>
              <a:buFont typeface="Calibri"/>
              <a:buNone/>
              <a:defRPr sz="234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10"/>
          <p:cNvSpPr>
            <a:spLocks noGrp="1"/>
          </p:cNvSpPr>
          <p:nvPr>
            <p:ph type="pic" idx="2"/>
          </p:nvPr>
        </p:nvSpPr>
        <p:spPr>
          <a:xfrm>
            <a:off x="2390029" y="612777"/>
            <a:ext cx="7316153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54" name="Google Shape;54;p10"/>
          <p:cNvSpPr txBox="1">
            <a:spLocks noGrp="1"/>
          </p:cNvSpPr>
          <p:nvPr>
            <p:ph type="body" idx="1"/>
          </p:nvPr>
        </p:nvSpPr>
        <p:spPr>
          <a:xfrm>
            <a:off x="2390029" y="5367339"/>
            <a:ext cx="7316153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39"/>
              </a:spcBef>
              <a:spcAft>
                <a:spcPts val="0"/>
              </a:spcAft>
              <a:buClr>
                <a:schemeClr val="dk1"/>
              </a:buClr>
              <a:buSzPts val="1693"/>
              <a:buFont typeface="Arial"/>
              <a:buNone/>
              <a:defRPr sz="16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87"/>
              </a:spcBef>
              <a:spcAft>
                <a:spcPts val="0"/>
              </a:spcAft>
              <a:buClr>
                <a:schemeClr val="dk1"/>
              </a:buClr>
              <a:buSzPts val="1433"/>
              <a:buFont typeface="Arial"/>
              <a:buNone/>
              <a:defRPr sz="14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34"/>
              </a:spcBef>
              <a:spcAft>
                <a:spcPts val="0"/>
              </a:spcAft>
              <a:buClr>
                <a:schemeClr val="dk1"/>
              </a:buClr>
              <a:buSzPts val="1172"/>
              <a:buFont typeface="Arial"/>
              <a:buNone/>
              <a:defRPr sz="117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40"/>
              <a:buFont typeface="Calibri"/>
              <a:buNone/>
              <a:defRPr sz="53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 rot="5400000">
            <a:off x="3833815" y="-1623933"/>
            <a:ext cx="4525963" cy="10974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76694" algn="l" rtl="0">
              <a:spcBef>
                <a:spcPts val="781"/>
              </a:spcBef>
              <a:spcAft>
                <a:spcPts val="0"/>
              </a:spcAft>
              <a:buClr>
                <a:schemeClr val="dk1"/>
              </a:buClr>
              <a:buSzPts val="3907"/>
              <a:buFont typeface="Arial"/>
              <a:buChar char="•"/>
              <a:defRPr sz="39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43674" algn="l" rtl="0">
              <a:spcBef>
                <a:spcPts val="677"/>
              </a:spcBef>
              <a:spcAft>
                <a:spcPts val="0"/>
              </a:spcAft>
              <a:buClr>
                <a:schemeClr val="dk1"/>
              </a:buClr>
              <a:buSzPts val="3387"/>
              <a:buFont typeface="Arial"/>
              <a:buChar char="–"/>
              <a:defRPr sz="33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10527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•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–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»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>
            <a:spLocks noGrp="1"/>
          </p:cNvSpPr>
          <p:nvPr>
            <p:ph type="title"/>
          </p:nvPr>
        </p:nvSpPr>
        <p:spPr>
          <a:xfrm rot="5400000">
            <a:off x="7286368" y="1828622"/>
            <a:ext cx="5851525" cy="274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40"/>
              <a:buFont typeface="Calibri"/>
              <a:buNone/>
              <a:defRPr sz="53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body" idx="1"/>
          </p:nvPr>
        </p:nvSpPr>
        <p:spPr>
          <a:xfrm rot="5400000">
            <a:off x="1697641" y="-813323"/>
            <a:ext cx="5851525" cy="8027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76694" algn="l" rtl="0">
              <a:spcBef>
                <a:spcPts val="781"/>
              </a:spcBef>
              <a:spcAft>
                <a:spcPts val="0"/>
              </a:spcAft>
              <a:buClr>
                <a:schemeClr val="dk1"/>
              </a:buClr>
              <a:buSzPts val="3907"/>
              <a:buFont typeface="Arial"/>
              <a:buChar char="•"/>
              <a:defRPr sz="39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43674" algn="l" rtl="0">
              <a:spcBef>
                <a:spcPts val="677"/>
              </a:spcBef>
              <a:spcAft>
                <a:spcPts val="0"/>
              </a:spcAft>
              <a:buClr>
                <a:schemeClr val="dk1"/>
              </a:buClr>
              <a:buSzPts val="3387"/>
              <a:buFont typeface="Arial"/>
              <a:buChar char="–"/>
              <a:defRPr sz="33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10527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•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–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»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261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33" y="3172"/>
            <a:ext cx="12180722" cy="68516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16316C3-AA13-32F1-283A-AC8F66B2D752}"/>
              </a:ext>
            </a:extLst>
          </p:cNvPr>
          <p:cNvSpPr txBox="1"/>
          <p:nvPr/>
        </p:nvSpPr>
        <p:spPr>
          <a:xfrm>
            <a:off x="5353812" y="623352"/>
            <a:ext cx="60990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_tradnl" sz="24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F1DC52B-9F3B-1CC7-B727-3CB12E83F683}"/>
              </a:ext>
            </a:extLst>
          </p:cNvPr>
          <p:cNvSpPr txBox="1"/>
          <p:nvPr/>
        </p:nvSpPr>
        <p:spPr>
          <a:xfrm>
            <a:off x="5353812" y="210312"/>
            <a:ext cx="6716268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400" b="1" dirty="0"/>
              <a:t>Título:</a:t>
            </a:r>
            <a:br>
              <a:rPr lang="es-ES" sz="2400" dirty="0"/>
            </a:br>
            <a:r>
              <a:rPr lang="es-ES" sz="2400" b="1" dirty="0"/>
              <a:t>Minería de Datos – Predicción de Ingresos con Regresión Logística</a:t>
            </a:r>
            <a:endParaRPr lang="es-ES" sz="2400" dirty="0"/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r>
              <a:rPr lang="es-ES" sz="2400" b="1" dirty="0"/>
              <a:t>Integrante:</a:t>
            </a:r>
          </a:p>
          <a:p>
            <a:pPr>
              <a:buNone/>
            </a:pPr>
            <a:r>
              <a:rPr lang="es-ES" sz="2400" dirty="0" err="1"/>
              <a:t>Wilkyn</a:t>
            </a:r>
            <a:r>
              <a:rPr lang="es-ES" sz="2400" dirty="0"/>
              <a:t> Julián Vargas Bahamón</a:t>
            </a:r>
            <a:br>
              <a:rPr lang="es-ES" sz="2400" dirty="0"/>
            </a:br>
            <a:r>
              <a:rPr lang="es-ES" sz="2400" dirty="0"/>
              <a:t>Johan Ariel </a:t>
            </a:r>
            <a:r>
              <a:rPr lang="es-ES" sz="2400" dirty="0" err="1"/>
              <a:t>Verjan</a:t>
            </a:r>
            <a:r>
              <a:rPr lang="es-ES" sz="2400" dirty="0"/>
              <a:t> Carrillo</a:t>
            </a:r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r>
              <a:rPr lang="es-ES" sz="2400" b="1" dirty="0"/>
              <a:t>Asignatura:</a:t>
            </a:r>
            <a:br>
              <a:rPr lang="es-ES" sz="2400" dirty="0"/>
            </a:br>
            <a:r>
              <a:rPr lang="es-ES" sz="2400" dirty="0"/>
              <a:t>Minería de Datos</a:t>
            </a:r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r>
              <a:rPr lang="es-ES" sz="2400" b="1" dirty="0"/>
              <a:t>Docente:</a:t>
            </a:r>
            <a:br>
              <a:rPr lang="es-ES" sz="2400" dirty="0"/>
            </a:br>
            <a:r>
              <a:rPr lang="es-ES_tradnl" sz="2400" dirty="0"/>
              <a:t>JULIAN ANDRES QUIMBAYO CASTRO</a:t>
            </a:r>
            <a:endParaRPr lang="es-ES" sz="2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FBB122E-1092-E1C4-AEBC-F2E7C16AC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1700213"/>
            <a:ext cx="3075557" cy="17287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4049A17-43B8-F29F-44C2-88608D742569}"/>
              </a:ext>
            </a:extLst>
          </p:cNvPr>
          <p:cNvSpPr txBox="1"/>
          <p:nvPr/>
        </p:nvSpPr>
        <p:spPr>
          <a:xfrm>
            <a:off x="334296" y="442452"/>
            <a:ext cx="79641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1" spc="50" dirty="0">
                <a:ln w="0"/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¿Cómo influyen la edad, el nivel educativo y el sexo biológico en la probabilidad de que una persona alcance ingresos superiores a 50 000 USD al año?</a:t>
            </a:r>
            <a:r>
              <a:rPr lang="es-CO" sz="2400" b="1" spc="50" dirty="0">
                <a:ln w="0"/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48716EE-C645-41A4-15AF-C0AA78255459}"/>
              </a:ext>
            </a:extLst>
          </p:cNvPr>
          <p:cNvSpPr/>
          <p:nvPr/>
        </p:nvSpPr>
        <p:spPr>
          <a:xfrm>
            <a:off x="7187380" y="4129547"/>
            <a:ext cx="4729316" cy="1936955"/>
          </a:xfrm>
          <a:prstGeom prst="rect">
            <a:avLst/>
          </a:prstGeom>
          <a:ln w="571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800" dirty="0"/>
              <a:t>Determinar el impacto de variables sociodemográficas en la probabilidad de obtener ingresos altos, mediante técnicas de minería de datos y modelos de regresión logística</a:t>
            </a:r>
            <a:r>
              <a:rPr lang="es-ES" sz="2000" dirty="0"/>
              <a:t>.</a:t>
            </a:r>
            <a:endParaRPr lang="es-CO" sz="20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6823819-DFBB-BB91-9FCD-035EA07FC8F9}"/>
              </a:ext>
            </a:extLst>
          </p:cNvPr>
          <p:cNvSpPr txBox="1"/>
          <p:nvPr/>
        </p:nvSpPr>
        <p:spPr>
          <a:xfrm>
            <a:off x="7875639" y="3616782"/>
            <a:ext cx="3500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>
                <a:solidFill>
                  <a:schemeClr val="accent5">
                    <a:lumMod val="75000"/>
                  </a:schemeClr>
                </a:solidFill>
              </a:rPr>
              <a:t>OBJETIVO</a:t>
            </a:r>
          </a:p>
        </p:txBody>
      </p:sp>
      <p:pic>
        <p:nvPicPr>
          <p:cNvPr id="1026" name="Picture 2" descr="La edad - Iconos gratis de diverso">
            <a:extLst>
              <a:ext uri="{FF2B5EF4-FFF2-40B4-BE49-F238E27FC236}">
                <a16:creationId xmlns:a16="http://schemas.microsoft.com/office/drawing/2014/main" id="{CEF96113-D78D-DC56-5A44-23659C307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194" y="4193309"/>
            <a:ext cx="1569661" cy="1569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ducación - Iconos gratis de educación">
            <a:extLst>
              <a:ext uri="{FF2B5EF4-FFF2-40B4-BE49-F238E27FC236}">
                <a16:creationId xmlns:a16="http://schemas.microsoft.com/office/drawing/2014/main" id="{DB7BCC1A-46E4-EBDA-BC53-05C7ADE97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4357" y="2037234"/>
            <a:ext cx="1659822" cy="1659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D88FA55-866F-47AC-3B0B-CE6CF62BBEA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551" b="89888" l="5526" r="90526">
                        <a14:foregroundMark x1="89737" y1="36517" x2="90000" y2="29213"/>
                        <a14:foregroundMark x1="89737" y1="31742" x2="90789" y2="41011"/>
                        <a14:foregroundMark x1="24211" y1="73876" x2="23158" y2="58708"/>
                        <a14:foregroundMark x1="19194" y1="28774" x2="21316" y2="27528"/>
                        <a14:foregroundMark x1="15017" y1="31226" x2="16908" y2="30116"/>
                        <a14:foregroundMark x1="5526" y1="36798" x2="14288" y2="31654"/>
                        <a14:backgroundMark x1="16316" y1="41854" x2="16316" y2="41854"/>
                        <a14:backgroundMark x1="16316" y1="39607" x2="15526" y2="32865"/>
                        <a14:backgroundMark x1="13158" y1="37640" x2="18158" y2="3146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16360" y="3990855"/>
            <a:ext cx="2107685" cy="1974568"/>
          </a:xfrm>
          <a:prstGeom prst="rect">
            <a:avLst/>
          </a:prstGeom>
        </p:spPr>
      </p:pic>
      <p:sp>
        <p:nvSpPr>
          <p:cNvPr id="9" name="Flecha: curvada hacia la derecha 8">
            <a:extLst>
              <a:ext uri="{FF2B5EF4-FFF2-40B4-BE49-F238E27FC236}">
                <a16:creationId xmlns:a16="http://schemas.microsoft.com/office/drawing/2014/main" id="{75BCC112-37E2-1909-22B9-9D9DB1C9F356}"/>
              </a:ext>
            </a:extLst>
          </p:cNvPr>
          <p:cNvSpPr/>
          <p:nvPr/>
        </p:nvSpPr>
        <p:spPr>
          <a:xfrm rot="3012188">
            <a:off x="1096463" y="1843529"/>
            <a:ext cx="973393" cy="2315911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10" name="Flecha: curvada hacia la derecha 9">
            <a:extLst>
              <a:ext uri="{FF2B5EF4-FFF2-40B4-BE49-F238E27FC236}">
                <a16:creationId xmlns:a16="http://schemas.microsoft.com/office/drawing/2014/main" id="{7969C81A-2BBB-94FC-C308-7493AE54859B}"/>
              </a:ext>
            </a:extLst>
          </p:cNvPr>
          <p:cNvSpPr/>
          <p:nvPr/>
        </p:nvSpPr>
        <p:spPr>
          <a:xfrm rot="16200000">
            <a:off x="2880855" y="4670140"/>
            <a:ext cx="973393" cy="2315911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12" name="Flecha: curvada hacia la izquierda 11">
            <a:extLst>
              <a:ext uri="{FF2B5EF4-FFF2-40B4-BE49-F238E27FC236}">
                <a16:creationId xmlns:a16="http://schemas.microsoft.com/office/drawing/2014/main" id="{D592D6A5-1C08-F2FD-6503-3DFEB7C29BCC}"/>
              </a:ext>
            </a:extLst>
          </p:cNvPr>
          <p:cNvSpPr/>
          <p:nvPr/>
        </p:nvSpPr>
        <p:spPr>
          <a:xfrm rot="20326474">
            <a:off x="4957746" y="2278626"/>
            <a:ext cx="1027808" cy="230074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pic>
        <p:nvPicPr>
          <p:cNvPr id="1034" name="Picture 10" descr="Icono de signo de dólar, signo de dólar, texto, marca, logo png | PNGWing">
            <a:extLst>
              <a:ext uri="{FF2B5EF4-FFF2-40B4-BE49-F238E27FC236}">
                <a16:creationId xmlns:a16="http://schemas.microsoft.com/office/drawing/2014/main" id="{E6516047-6C01-6208-E8F3-14C4507FA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587" b="95000" l="3696" r="96739">
                        <a14:foregroundMark x1="53261" y1="5000" x2="71413" y2="10217"/>
                        <a14:foregroundMark x1="71413" y1="10217" x2="71196" y2="10000"/>
                        <a14:foregroundMark x1="74130" y1="11522" x2="60000" y2="7609"/>
                        <a14:foregroundMark x1="67391" y1="11848" x2="74891" y2="12391"/>
                        <a14:foregroundMark x1="74891" y1="12391" x2="77391" y2="13804"/>
                        <a14:foregroundMark x1="60414" y1="9888" x2="46630" y2="4130"/>
                        <a14:foregroundMark x1="82283" y1="19022" x2="70742" y2="14201"/>
                        <a14:foregroundMark x1="46630" y1="4130" x2="46087" y2="3587"/>
                        <a14:foregroundMark x1="78913" y1="13913" x2="70000" y2="8696"/>
                        <a14:foregroundMark x1="70000" y1="8696" x2="42391" y2="5543"/>
                        <a14:foregroundMark x1="42391" y1="5543" x2="17174" y2="17391"/>
                        <a14:foregroundMark x1="17174" y1="17391" x2="5870" y2="30543"/>
                        <a14:foregroundMark x1="5870" y1="30543" x2="3804" y2="40761"/>
                        <a14:foregroundMark x1="3804" y1="40761" x2="3696" y2="40978"/>
                        <a14:foregroundMark x1="4565" y1="47609" x2="10543" y2="77391"/>
                        <a14:foregroundMark x1="10543" y1="77391" x2="24565" y2="89348"/>
                        <a14:foregroundMark x1="24565" y1="89348" x2="45978" y2="95109"/>
                        <a14:foregroundMark x1="45978" y1="95109" x2="65109" y2="92283"/>
                        <a14:foregroundMark x1="65109" y1="92283" x2="78261" y2="85000"/>
                        <a14:foregroundMark x1="78261" y1="85000" x2="86304" y2="76739"/>
                        <a14:foregroundMark x1="86304" y1="76739" x2="91957" y2="65761"/>
                        <a14:foregroundMark x1="91957" y1="65761" x2="94891" y2="45435"/>
                        <a14:foregroundMark x1="94891" y1="45435" x2="93696" y2="37935"/>
                        <a14:foregroundMark x1="93696" y1="37935" x2="90326" y2="30435"/>
                        <a14:foregroundMark x1="90326" y1="30435" x2="79565" y2="16630"/>
                        <a14:foregroundMark x1="88152" y1="23478" x2="91739" y2="31739"/>
                        <a14:foregroundMark x1="91739" y1="31739" x2="92826" y2="72609"/>
                        <a14:foregroundMark x1="92826" y1="72609" x2="78261" y2="88913"/>
                        <a14:foregroundMark x1="78261" y1="88913" x2="52609" y2="98804"/>
                        <a14:foregroundMark x1="52609" y1="98804" x2="28913" y2="95000"/>
                        <a14:foregroundMark x1="28913" y1="95000" x2="15870" y2="78152"/>
                        <a14:foregroundMark x1="89022" y1="25761" x2="92391" y2="31957"/>
                        <a14:foregroundMark x1="92391" y1="31957" x2="96196" y2="57174"/>
                        <a14:foregroundMark x1="96413" y1="49783" x2="95978" y2="53370"/>
                        <a14:foregroundMark x1="96413" y1="45543" x2="96739" y2="53804"/>
                        <a14:foregroundMark x1="57717" y1="32935" x2="44565" y2="33370"/>
                        <a14:foregroundMark x1="44565" y1="33370" x2="41630" y2="39783"/>
                        <a14:foregroundMark x1="41630" y1="39783" x2="51413" y2="49130"/>
                        <a14:foregroundMark x1="51413" y1="49130" x2="60543" y2="54022"/>
                        <a14:foregroundMark x1="60543" y1="54022" x2="60761" y2="62391"/>
                        <a14:foregroundMark x1="60761" y1="62391" x2="51739" y2="68370"/>
                        <a14:foregroundMark x1="51739" y1="68370" x2="43370" y2="66957"/>
                        <a14:foregroundMark x1="50978" y1="72283" x2="43261" y2="66739"/>
                        <a14:foregroundMark x1="43261" y1="66739" x2="40543" y2="66196"/>
                        <a14:foregroundMark x1="51630" y1="48696" x2="41957" y2="41522"/>
                        <a14:foregroundMark x1="41957" y1="41522" x2="45217" y2="33913"/>
                        <a14:foregroundMark x1="45217" y1="33913" x2="51848" y2="25761"/>
                        <a14:foregroundMark x1="51848" y1="25761" x2="53478" y2="33696"/>
                        <a14:foregroundMark x1="53478" y1="33696" x2="58696" y2="33370"/>
                        <a14:backgroundMark x1="22935" y1="36413" x2="15978" y2="51087"/>
                        <a14:backgroundMark x1="15978" y1="51087" x2="23261" y2="42391"/>
                        <a14:backgroundMark x1="23261" y1="42391" x2="23804" y2="42174"/>
                        <a14:backgroundMark x1="51304" y1="14891" x2="61087" y2="15761"/>
                        <a14:backgroundMark x1="61087" y1="15761" x2="65435" y2="17391"/>
                        <a14:backgroundMark x1="71957" y1="16630" x2="64239" y2="14022"/>
                        <a14:backgroundMark x1="62283" y1="13043" x2="68913" y2="14891"/>
                        <a14:backgroundMark x1="71413" y1="15435" x2="59565" y2="12174"/>
                        <a14:backgroundMark x1="65000" y1="13804" x2="61304" y2="11739"/>
                        <a14:backgroundMark x1="63804" y1="12500" x2="60652" y2="11630"/>
                        <a14:backgroundMark x1="65652" y1="12717" x2="63587" y2="118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9460" y="3816837"/>
            <a:ext cx="1396181" cy="1396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405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16929C0-B3A1-02DA-E7B8-E1236BEFB69E}"/>
              </a:ext>
            </a:extLst>
          </p:cNvPr>
          <p:cNvSpPr txBox="1"/>
          <p:nvPr/>
        </p:nvSpPr>
        <p:spPr>
          <a:xfrm>
            <a:off x="2165684" y="201288"/>
            <a:ext cx="70745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ANÁLISIS DEL DATASET</a:t>
            </a: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642D203A-B5A5-0364-59A7-535873738A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9646458"/>
              </p:ext>
            </p:extLst>
          </p:nvPr>
        </p:nvGraphicFramePr>
        <p:xfrm>
          <a:off x="1232987" y="981065"/>
          <a:ext cx="9727614" cy="54193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6855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1E8AD-8467-2D0D-3AD6-CCDB06B27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088E8C8-AA0E-F9DE-D399-BEFC231780A5}"/>
              </a:ext>
            </a:extLst>
          </p:cNvPr>
          <p:cNvSpPr txBox="1"/>
          <p:nvPr/>
        </p:nvSpPr>
        <p:spPr>
          <a:xfrm>
            <a:off x="2165684" y="201288"/>
            <a:ext cx="70745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Visualizaciones Gráficas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000F6B1-CF37-C8C6-7938-AB95236CB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89" y="1588497"/>
            <a:ext cx="4960251" cy="3952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359AD25-05D4-7B07-9C86-329DCBF9E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905" y="1969497"/>
            <a:ext cx="6373185" cy="3775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CDC64722-D10D-3CA1-A713-611345A0B185}"/>
              </a:ext>
            </a:extLst>
          </p:cNvPr>
          <p:cNvSpPr/>
          <p:nvPr/>
        </p:nvSpPr>
        <p:spPr>
          <a:xfrm>
            <a:off x="1783080" y="2758440"/>
            <a:ext cx="3230880" cy="2087880"/>
          </a:xfrm>
          <a:prstGeom prst="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1800" dirty="0"/>
              <a:t>Ingresos por nivel educativo</a:t>
            </a:r>
          </a:p>
          <a:p>
            <a:pPr algn="ctr"/>
            <a:r>
              <a:rPr lang="es-CO" sz="1800" dirty="0"/>
              <a:t>A mayor educación. Aumenta la proporción de ingresos altos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1EF0CD9-AA5E-3E3F-B2D9-F0FF6CD7C795}"/>
              </a:ext>
            </a:extLst>
          </p:cNvPr>
          <p:cNvSpPr/>
          <p:nvPr/>
        </p:nvSpPr>
        <p:spPr>
          <a:xfrm>
            <a:off x="8656320" y="925557"/>
            <a:ext cx="3230880" cy="2087880"/>
          </a:xfrm>
          <a:prstGeom prst="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1800" dirty="0"/>
              <a:t>Distribución de la edad según ingresos</a:t>
            </a:r>
          </a:p>
          <a:p>
            <a:pPr algn="ctr"/>
            <a:r>
              <a:rPr lang="es-CO" sz="1800" dirty="0"/>
              <a:t>La mayoría de los ingresos altos, se concentran entre los 35 y 55 años</a:t>
            </a:r>
          </a:p>
        </p:txBody>
      </p:sp>
    </p:spTree>
    <p:extLst>
      <p:ext uri="{BB962C8B-B14F-4D97-AF65-F5344CB8AC3E}">
        <p14:creationId xmlns:p14="http://schemas.microsoft.com/office/powerpoint/2010/main" val="1578484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5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52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FDD7E-8898-7EDC-3E0B-F6C10693E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911FDE82-A564-5735-B850-9F9282083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8880" y="1456047"/>
            <a:ext cx="5660258" cy="4209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BCD4CAB7-3FB1-DFC5-21C0-1C5324C2CE2E}"/>
              </a:ext>
            </a:extLst>
          </p:cNvPr>
          <p:cNvSpPr txBox="1"/>
          <p:nvPr/>
        </p:nvSpPr>
        <p:spPr>
          <a:xfrm>
            <a:off x="2165684" y="201288"/>
            <a:ext cx="70745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Visualizaciones Gráficas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DC573E1-A44E-45B6-ED18-305ED45F5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50" y="1456047"/>
            <a:ext cx="5306330" cy="3945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6E482CF2-0133-0082-7F9A-B14DDAAE876E}"/>
              </a:ext>
            </a:extLst>
          </p:cNvPr>
          <p:cNvSpPr/>
          <p:nvPr/>
        </p:nvSpPr>
        <p:spPr>
          <a:xfrm>
            <a:off x="3941129" y="4764626"/>
            <a:ext cx="3947160" cy="2087880"/>
          </a:xfrm>
          <a:prstGeom prst="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1800" dirty="0"/>
              <a:t>Sexo biológico vs Ingresos</a:t>
            </a:r>
          </a:p>
          <a:p>
            <a:pPr algn="ctr"/>
            <a:r>
              <a:rPr lang="es-CO" sz="1800" dirty="0"/>
              <a:t>L</a:t>
            </a:r>
            <a:r>
              <a:rPr lang="es-ES" sz="1800" dirty="0"/>
              <a:t>os hombres tienen mayor proporción en el grupo &gt; 50 K, evidenciando brecha de género.</a:t>
            </a:r>
            <a:endParaRPr lang="es-CO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522D28F-BE21-2F6D-E1EB-5187C51D22C3}"/>
              </a:ext>
            </a:extLst>
          </p:cNvPr>
          <p:cNvSpPr/>
          <p:nvPr/>
        </p:nvSpPr>
        <p:spPr>
          <a:xfrm>
            <a:off x="8001000" y="1192858"/>
            <a:ext cx="3230880" cy="2087880"/>
          </a:xfrm>
          <a:prstGeom prst="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1800" dirty="0"/>
              <a:t>Horas trabajadas por semana vs Ingresos</a:t>
            </a:r>
          </a:p>
          <a:p>
            <a:pPr algn="ctr"/>
            <a:r>
              <a:rPr lang="es-ES" sz="1800" dirty="0"/>
              <a:t>Muestra que quienes trabajan más de 45 h semanales tienen mayor probabilidad de superar 50 K.</a:t>
            </a:r>
            <a:endParaRPr lang="es-CO" sz="1800" dirty="0"/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B19400F6-5B20-3FAA-74BD-E5F8F7AD5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1913" y="1032675"/>
            <a:ext cx="5080037" cy="449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EBD959D0-0DB2-B756-FAF6-179FF09E3032}"/>
              </a:ext>
            </a:extLst>
          </p:cNvPr>
          <p:cNvSpPr/>
          <p:nvPr/>
        </p:nvSpPr>
        <p:spPr>
          <a:xfrm>
            <a:off x="7739472" y="4197389"/>
            <a:ext cx="3230880" cy="2087880"/>
          </a:xfrm>
          <a:prstGeom prst="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800" dirty="0"/>
              <a:t>Predomina la población blanca (≈85 %), lo que podría generar sesgo demográfico en el modelo.</a:t>
            </a:r>
            <a:endParaRPr lang="es-CO" sz="1800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5624E283-4632-B3C9-FDF8-0F07C3F9FA59}"/>
              </a:ext>
            </a:extLst>
          </p:cNvPr>
          <p:cNvSpPr/>
          <p:nvPr/>
        </p:nvSpPr>
        <p:spPr>
          <a:xfrm>
            <a:off x="459016" y="5889029"/>
            <a:ext cx="400050" cy="396240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A60E4B95-0688-4653-BCDF-ACCB7B4B4735}"/>
              </a:ext>
            </a:extLst>
          </p:cNvPr>
          <p:cNvSpPr/>
          <p:nvPr/>
        </p:nvSpPr>
        <p:spPr>
          <a:xfrm>
            <a:off x="11694478" y="5889029"/>
            <a:ext cx="400050" cy="396240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7C62E4B4-C612-FA8B-3BDF-DDD3E892FB91}"/>
              </a:ext>
            </a:extLst>
          </p:cNvPr>
          <p:cNvSpPr/>
          <p:nvPr/>
        </p:nvSpPr>
        <p:spPr>
          <a:xfrm>
            <a:off x="3179016" y="5889029"/>
            <a:ext cx="400050" cy="396240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5564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0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7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30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76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30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78"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lecha: hacia abajo 22">
            <a:extLst>
              <a:ext uri="{FF2B5EF4-FFF2-40B4-BE49-F238E27FC236}">
                <a16:creationId xmlns:a16="http://schemas.microsoft.com/office/drawing/2014/main" id="{D5AE7588-F4CB-BD01-0AB0-226B744843FB}"/>
              </a:ext>
            </a:extLst>
          </p:cNvPr>
          <p:cNvSpPr/>
          <p:nvPr/>
        </p:nvSpPr>
        <p:spPr>
          <a:xfrm>
            <a:off x="7578308" y="2697938"/>
            <a:ext cx="392212" cy="731062"/>
          </a:xfrm>
          <a:prstGeom prst="downArrow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1B36B38-19B4-7CC9-62CF-CE84451AF24D}"/>
              </a:ext>
            </a:extLst>
          </p:cNvPr>
          <p:cNvSpPr txBox="1"/>
          <p:nvPr/>
        </p:nvSpPr>
        <p:spPr>
          <a:xfrm>
            <a:off x="2165684" y="201288"/>
            <a:ext cx="70745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Características Encontradas en el Proceso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B403EAE-1BC7-DAA3-F879-19E7E3765343}"/>
              </a:ext>
            </a:extLst>
          </p:cNvPr>
          <p:cNvSpPr/>
          <p:nvPr/>
        </p:nvSpPr>
        <p:spPr>
          <a:xfrm>
            <a:off x="350520" y="1859280"/>
            <a:ext cx="2026920" cy="685800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2000" dirty="0"/>
              <a:t>Patrones identificados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7735A90-D46F-F106-C8CE-11DFFBDC6A04}"/>
              </a:ext>
            </a:extLst>
          </p:cNvPr>
          <p:cNvSpPr/>
          <p:nvPr/>
        </p:nvSpPr>
        <p:spPr>
          <a:xfrm>
            <a:off x="3553021" y="1859280"/>
            <a:ext cx="2026920" cy="685800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2000" dirty="0"/>
              <a:t>Correlaciones Importantes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C3912B3-0EC2-23A5-1D2B-FF02E2555869}"/>
              </a:ext>
            </a:extLst>
          </p:cNvPr>
          <p:cNvSpPr/>
          <p:nvPr/>
        </p:nvSpPr>
        <p:spPr>
          <a:xfrm>
            <a:off x="6656289" y="1897195"/>
            <a:ext cx="2026920" cy="685800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2000" dirty="0"/>
              <a:t>Distribuciones relevantes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D508495-1720-A665-AF81-BF74342EBF32}"/>
              </a:ext>
            </a:extLst>
          </p:cNvPr>
          <p:cNvSpPr/>
          <p:nvPr/>
        </p:nvSpPr>
        <p:spPr>
          <a:xfrm>
            <a:off x="9593454" y="1897195"/>
            <a:ext cx="2026920" cy="685800"/>
          </a:xfrm>
          <a:prstGeom prst="rect">
            <a:avLst/>
          </a:prstGeom>
          <a:ln w="57150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2000" dirty="0"/>
              <a:t>Outliers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FCF5B62-6C8C-158E-19D6-685AF77DA464}"/>
              </a:ext>
            </a:extLst>
          </p:cNvPr>
          <p:cNvSpPr txBox="1"/>
          <p:nvPr/>
        </p:nvSpPr>
        <p:spPr>
          <a:xfrm>
            <a:off x="350520" y="2767280"/>
            <a:ext cx="27889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/>
              <a:t>A mayor nivel educativo, edad y horas trabajadas se aumenta la posibilidad de tener mayores ingresos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47ABEDEE-7CD8-0244-2C27-B832E06B3CAF}"/>
              </a:ext>
            </a:extLst>
          </p:cNvPr>
          <p:cNvSpPr/>
          <p:nvPr/>
        </p:nvSpPr>
        <p:spPr>
          <a:xfrm>
            <a:off x="11620374" y="5893153"/>
            <a:ext cx="400050" cy="396240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783D93B-EC41-774B-3C75-FD5812B82F76}"/>
              </a:ext>
            </a:extLst>
          </p:cNvPr>
          <p:cNvSpPr txBox="1"/>
          <p:nvPr/>
        </p:nvSpPr>
        <p:spPr>
          <a:xfrm>
            <a:off x="3339660" y="2767280"/>
            <a:ext cx="37164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EDUCATION ↔ EDUCATION_NUM muestran correlación muy alta (miden casi lo mismo).</a:t>
            </a:r>
          </a:p>
          <a:p>
            <a:r>
              <a:rPr lang="es-ES" sz="2000" dirty="0"/>
              <a:t>SEX ↔ RELATIONSHIP presentan la correlación más fuerte del dataset (≈ −0.62).</a:t>
            </a:r>
            <a:endParaRPr lang="es-CO" sz="20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F52EDBA-04A1-A2F2-A732-367EDF6DA4F4}"/>
              </a:ext>
            </a:extLst>
          </p:cNvPr>
          <p:cNvSpPr txBox="1"/>
          <p:nvPr/>
        </p:nvSpPr>
        <p:spPr>
          <a:xfrm>
            <a:off x="9240253" y="2767280"/>
            <a:ext cx="295333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CAPITAL_GAIN tiene valores extremos entre 20 000 y 99 999,pero se mantienen porque representan casos reales de ingresos adicionales altos.</a:t>
            </a:r>
            <a:endParaRPr lang="es-CO" sz="2000" dirty="0"/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BE8A11E0-583C-7902-EBEC-1F7444828EA6}"/>
              </a:ext>
            </a:extLst>
          </p:cNvPr>
          <p:cNvGrpSpPr/>
          <p:nvPr/>
        </p:nvGrpSpPr>
        <p:grpSpPr>
          <a:xfrm>
            <a:off x="423129" y="1666407"/>
            <a:ext cx="11527275" cy="4140738"/>
            <a:chOff x="207375" y="873311"/>
            <a:chExt cx="11527275" cy="4140738"/>
          </a:xfrm>
        </p:grpSpPr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C7860234-C732-E2D2-7874-B12961E168FD}"/>
                </a:ext>
              </a:extLst>
            </p:cNvPr>
            <p:cNvGrpSpPr/>
            <p:nvPr/>
          </p:nvGrpSpPr>
          <p:grpSpPr>
            <a:xfrm>
              <a:off x="207375" y="873311"/>
              <a:ext cx="5692140" cy="4140738"/>
              <a:chOff x="1363980" y="565534"/>
              <a:chExt cx="5692140" cy="4140738"/>
            </a:xfrm>
          </p:grpSpPr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74397D11-6685-93F0-5C1B-F9A8FC71DE06}"/>
                  </a:ext>
                </a:extLst>
              </p:cNvPr>
              <p:cNvSpPr/>
              <p:nvPr/>
            </p:nvSpPr>
            <p:spPr>
              <a:xfrm>
                <a:off x="1363980" y="565534"/>
                <a:ext cx="5692140" cy="4140738"/>
              </a:xfrm>
              <a:prstGeom prst="rect">
                <a:avLst/>
              </a:prstGeom>
              <a:ln w="3810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s-CO" sz="2000" dirty="0"/>
                  <a:t>Los ingresos se distribuyen como:</a:t>
                </a:r>
              </a:p>
              <a:p>
                <a:pPr algn="ctr"/>
                <a:endParaRPr lang="es-CO" sz="2000" dirty="0"/>
              </a:p>
            </p:txBody>
          </p:sp>
          <p:pic>
            <p:nvPicPr>
              <p:cNvPr id="4099" name="Picture 3">
                <a:extLst>
                  <a:ext uri="{FF2B5EF4-FFF2-40B4-BE49-F238E27FC236}">
                    <a16:creationId xmlns:a16="http://schemas.microsoft.com/office/drawing/2014/main" id="{B45887A2-93E0-4282-FCF2-98B3C342889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43279" y="1228745"/>
                <a:ext cx="3219682" cy="34029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7F4F1212-C3EB-26E9-6D91-5A8E344C620F}"/>
                </a:ext>
              </a:extLst>
            </p:cNvPr>
            <p:cNvGrpSpPr/>
            <p:nvPr/>
          </p:nvGrpSpPr>
          <p:grpSpPr>
            <a:xfrm>
              <a:off x="6042510" y="873311"/>
              <a:ext cx="5692140" cy="4140738"/>
              <a:chOff x="6042660" y="492642"/>
              <a:chExt cx="5692140" cy="4140738"/>
            </a:xfrm>
          </p:grpSpPr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3775ADEF-888F-2EAB-EA00-DB4A5BB5357A}"/>
                  </a:ext>
                </a:extLst>
              </p:cNvPr>
              <p:cNvSpPr/>
              <p:nvPr/>
            </p:nvSpPr>
            <p:spPr>
              <a:xfrm>
                <a:off x="6042660" y="492642"/>
                <a:ext cx="5692140" cy="4140738"/>
              </a:xfrm>
              <a:prstGeom prst="rect">
                <a:avLst/>
              </a:prstGeom>
              <a:ln w="3810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s-CO" sz="2000" dirty="0"/>
                  <a:t>Predominan  niveles educativos medios y técnicos con pocos estudios superiores</a:t>
                </a:r>
              </a:p>
              <a:p>
                <a:pPr algn="ctr"/>
                <a:endParaRPr lang="es-CO" sz="2000" dirty="0"/>
              </a:p>
            </p:txBody>
          </p:sp>
          <p:pic>
            <p:nvPicPr>
              <p:cNvPr id="18" name="Imagen 17">
                <a:extLst>
                  <a:ext uri="{FF2B5EF4-FFF2-40B4-BE49-F238E27FC236}">
                    <a16:creationId xmlns:a16="http://schemas.microsoft.com/office/drawing/2014/main" id="{7C030F58-8830-8F38-48F2-A3A2EAE1C4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25821" y="1210015"/>
                <a:ext cx="4590172" cy="34192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582870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560BD05-135A-F346-16F1-0892A1C20121}"/>
              </a:ext>
            </a:extLst>
          </p:cNvPr>
          <p:cNvSpPr txBox="1"/>
          <p:nvPr/>
        </p:nvSpPr>
        <p:spPr>
          <a:xfrm>
            <a:off x="2165684" y="201288"/>
            <a:ext cx="70745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Predicción y Hallazgo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34654DE-0EF8-CD9A-E667-B8E2C8728A56}"/>
              </a:ext>
            </a:extLst>
          </p:cNvPr>
          <p:cNvSpPr/>
          <p:nvPr/>
        </p:nvSpPr>
        <p:spPr>
          <a:xfrm>
            <a:off x="162012" y="1163053"/>
            <a:ext cx="2695074" cy="914400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800" dirty="0"/>
              <a:t>RESULTADOS DEL MODELO</a:t>
            </a:r>
            <a:endParaRPr lang="es-CO" sz="18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29C6D09-DEC0-384F-2D1A-1EA99B233287}"/>
              </a:ext>
            </a:extLst>
          </p:cNvPr>
          <p:cNvSpPr/>
          <p:nvPr/>
        </p:nvSpPr>
        <p:spPr>
          <a:xfrm>
            <a:off x="3169906" y="1163053"/>
            <a:ext cx="2695074" cy="914400"/>
          </a:xfrm>
          <a:prstGeom prst="rect">
            <a:avLst/>
          </a:prstGeom>
          <a:ln w="57150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800" dirty="0"/>
              <a:t>VARIABLES QUE MÁS INFLUYEN EN LA PREDICCIÓN</a:t>
            </a:r>
            <a:endParaRPr lang="es-CO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26E2175-7C87-D964-A726-EEA1DFC080AF}"/>
              </a:ext>
            </a:extLst>
          </p:cNvPr>
          <p:cNvSpPr/>
          <p:nvPr/>
        </p:nvSpPr>
        <p:spPr>
          <a:xfrm>
            <a:off x="6177800" y="1163053"/>
            <a:ext cx="2695074" cy="914400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800" dirty="0"/>
              <a:t>HALLAZGO PRINCIPAL</a:t>
            </a:r>
            <a:endParaRPr lang="es-CO" sz="18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9C470B4-A231-9BC9-953E-771EEEB88A59}"/>
              </a:ext>
            </a:extLst>
          </p:cNvPr>
          <p:cNvSpPr/>
          <p:nvPr/>
        </p:nvSpPr>
        <p:spPr>
          <a:xfrm>
            <a:off x="9185694" y="1163053"/>
            <a:ext cx="2695074" cy="914400"/>
          </a:xfrm>
          <a:prstGeom prst="rect">
            <a:avLst/>
          </a:prstGeom>
          <a:ln w="762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800" dirty="0"/>
              <a:t>RESPUESTA A LA INVESTIGACIÓN</a:t>
            </a:r>
            <a:endParaRPr lang="es-CO" sz="1800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077EC4D-E2CC-B9F8-CC46-374F53A2E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603" y="4452915"/>
            <a:ext cx="3436929" cy="1477328"/>
          </a:xfrm>
          <a:prstGeom prst="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matriz de confusión refleja falsos positivos y falsos negativos, lo cual es esperable en una base con proporciones distintas entre categorías.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62B25DE-4F4E-B68F-FDEB-579D288D9957}"/>
              </a:ext>
            </a:extLst>
          </p:cNvPr>
          <p:cNvSpPr/>
          <p:nvPr/>
        </p:nvSpPr>
        <p:spPr>
          <a:xfrm>
            <a:off x="162014" y="2270370"/>
            <a:ext cx="3287040" cy="1812756"/>
          </a:xfrm>
          <a:prstGeom prst="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ES" sz="1800" dirty="0"/>
          </a:p>
          <a:p>
            <a:r>
              <a:rPr lang="es-ES" sz="1800" dirty="0"/>
              <a:t>El modelo clasifica mejor los casos de ≤ 50K, mientras que la categoría &gt; 50K presenta menor precisión debido a la distribución desigual de ingresos.</a:t>
            </a:r>
          </a:p>
          <a:p>
            <a:pPr algn="ctr"/>
            <a:endParaRPr lang="es-CO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C630177-D34E-285C-72B2-CDE78B4BA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532" y="2362612"/>
            <a:ext cx="2667069" cy="1328305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30535238-9E3D-D869-8943-9960BF3EF9F2}"/>
              </a:ext>
            </a:extLst>
          </p:cNvPr>
          <p:cNvSpPr txBox="1"/>
          <p:nvPr/>
        </p:nvSpPr>
        <p:spPr>
          <a:xfrm>
            <a:off x="6419079" y="2362612"/>
            <a:ext cx="2766615" cy="2862322"/>
          </a:xfrm>
          <a:prstGeom prst="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sz="1800" dirty="0"/>
              <a:t>El modelo muestra que factores como más educación, edad más avanzada, mayor dedicación laboral y ganancias de capital incrementan notablemente la probabilidad de superar los 50 000 USD anuales.</a:t>
            </a:r>
            <a:endParaRPr lang="es-CO" sz="18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1184E87-BAC5-A86B-4A11-39DECDD0F211}"/>
              </a:ext>
            </a:extLst>
          </p:cNvPr>
          <p:cNvSpPr txBox="1"/>
          <p:nvPr/>
        </p:nvSpPr>
        <p:spPr>
          <a:xfrm>
            <a:off x="7814076" y="2362612"/>
            <a:ext cx="4066692" cy="2308324"/>
          </a:xfrm>
          <a:prstGeom prst="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sz="1800" dirty="0"/>
              <a:t>La edad, la educación y el sexo sí influyen en la probabilidad de alcanzar ingresos superiores a 50 000 USD.</a:t>
            </a:r>
            <a:br>
              <a:rPr lang="es-ES" sz="1800" dirty="0"/>
            </a:br>
            <a:r>
              <a:rPr lang="es-ES" sz="1800" dirty="0"/>
              <a:t>La educación y la edad muestran el efecto más fuerte; el sexo influye en menor grado, pero sigue siendo un factor observable en el </a:t>
            </a:r>
            <a:r>
              <a:rPr lang="es-ES" sz="1800" dirty="0" err="1"/>
              <a:t>dataset</a:t>
            </a:r>
            <a:r>
              <a:rPr lang="es-ES" sz="1800" dirty="0"/>
              <a:t>.</a:t>
            </a:r>
            <a:endParaRPr lang="es-CO" sz="1800" dirty="0"/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4466CBDA-22C7-A52B-9478-64CD496A4E48}"/>
              </a:ext>
            </a:extLst>
          </p:cNvPr>
          <p:cNvGrpSpPr/>
          <p:nvPr/>
        </p:nvGrpSpPr>
        <p:grpSpPr>
          <a:xfrm>
            <a:off x="162012" y="2090810"/>
            <a:ext cx="3752262" cy="4165611"/>
            <a:chOff x="1625073" y="493675"/>
            <a:chExt cx="4746226" cy="4767190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362AD1DD-D636-D544-9571-3C4B04637A66}"/>
                </a:ext>
              </a:extLst>
            </p:cNvPr>
            <p:cNvSpPr/>
            <p:nvPr/>
          </p:nvSpPr>
          <p:spPr>
            <a:xfrm>
              <a:off x="1625073" y="493675"/>
              <a:ext cx="4746226" cy="476719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  <a:tint val="66000"/>
                    <a:satMod val="160000"/>
                  </a:schemeClr>
                </a:gs>
                <a:gs pos="50000">
                  <a:schemeClr val="accent1">
                    <a:lumMod val="50000"/>
                    <a:tint val="44500"/>
                    <a:satMod val="160000"/>
                  </a:schemeClr>
                </a:gs>
                <a:gs pos="100000">
                  <a:schemeClr val="accent1">
                    <a:lumMod val="50000"/>
                    <a:tint val="23500"/>
                    <a:satMod val="160000"/>
                  </a:schemeClr>
                </a:gs>
              </a:gsLst>
              <a:lin ang="18900000" scaled="1"/>
              <a:tileRect/>
            </a:gradFill>
            <a:ln>
              <a:solidFill>
                <a:schemeClr val="bg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E3AEB794-99E9-2CCA-CC08-FEE8F10C5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57755" y="711634"/>
              <a:ext cx="3728641" cy="1642278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298B0A04-5BF9-EC82-9106-8FAB23265B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39880" y="2526019"/>
              <a:ext cx="3436929" cy="26655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849015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A409C421-BCC0-4EC3-27E5-074FD966B5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3230147"/>
              </p:ext>
            </p:extLst>
          </p:nvPr>
        </p:nvGraphicFramePr>
        <p:xfrm>
          <a:off x="0" y="919155"/>
          <a:ext cx="7079651" cy="50196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B93F1714-44B1-9203-70D3-1E7BD7C6D613}"/>
              </a:ext>
            </a:extLst>
          </p:cNvPr>
          <p:cNvSpPr/>
          <p:nvPr/>
        </p:nvSpPr>
        <p:spPr>
          <a:xfrm>
            <a:off x="7828547" y="4908884"/>
            <a:ext cx="3529263" cy="102996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NO SE APLICARON TÉCNICAS DE BALANCEO, LO QUE AFECTA LA DETECCIÓN DE INGESOS ALTOS</a:t>
            </a:r>
            <a:endParaRPr lang="es-CO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643ECE2-B4B6-3DE1-C684-271C7B6B4A15}"/>
              </a:ext>
            </a:extLst>
          </p:cNvPr>
          <p:cNvSpPr/>
          <p:nvPr/>
        </p:nvSpPr>
        <p:spPr>
          <a:xfrm>
            <a:off x="7828546" y="3428999"/>
            <a:ext cx="3529263" cy="102996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POSIBLES SESGOS</a:t>
            </a:r>
          </a:p>
          <a:p>
            <a:pPr algn="ctr"/>
            <a:r>
              <a:rPr lang="es-ES" dirty="0"/>
              <a:t>DIFERENCIA MARCADA ENTRE HOMBRES Y MUJERES QUE PUEDEN REFLEJARSE EN LA PREDICCIÓN</a:t>
            </a:r>
            <a:endParaRPr lang="es-CO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AB2BDDD-0257-D0CF-3B34-355D6DA480A2}"/>
              </a:ext>
            </a:extLst>
          </p:cNvPr>
          <p:cNvSpPr/>
          <p:nvPr/>
        </p:nvSpPr>
        <p:spPr>
          <a:xfrm>
            <a:off x="7079651" y="673766"/>
            <a:ext cx="4887760" cy="2305308"/>
          </a:xfrm>
          <a:prstGeom prst="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000" dirty="0"/>
              <a:t>RECOMENDACIONES</a:t>
            </a:r>
          </a:p>
          <a:p>
            <a:pPr algn="ctr"/>
            <a:r>
              <a:rPr lang="es-ES" sz="1600" dirty="0"/>
              <a:t>Probar modelos más complejos(</a:t>
            </a:r>
            <a:r>
              <a:rPr lang="es-ES" sz="1600" dirty="0" err="1"/>
              <a:t>Random</a:t>
            </a:r>
            <a:r>
              <a:rPr lang="es-ES" sz="1600" dirty="0"/>
              <a:t> Forest..)</a:t>
            </a:r>
          </a:p>
          <a:p>
            <a:pPr algn="ctr"/>
            <a:r>
              <a:rPr lang="es-CO" sz="1600" dirty="0"/>
              <a:t>Usar </a:t>
            </a:r>
            <a:r>
              <a:rPr lang="es-CO" sz="1600" b="1" dirty="0" err="1"/>
              <a:t>One</a:t>
            </a:r>
            <a:r>
              <a:rPr lang="es-CO" sz="1600" b="1" dirty="0"/>
              <a:t>-Hot </a:t>
            </a:r>
            <a:r>
              <a:rPr lang="es-CO" sz="1600" b="1" dirty="0" err="1"/>
              <a:t>Encoding</a:t>
            </a:r>
            <a:r>
              <a:rPr lang="es-CO" sz="1600" dirty="0"/>
              <a:t> para variables categóricas</a:t>
            </a:r>
          </a:p>
          <a:p>
            <a:pPr algn="ctr"/>
            <a:r>
              <a:rPr lang="es-CO" sz="1600" dirty="0"/>
              <a:t>Aplicar balanceo de datos</a:t>
            </a:r>
          </a:p>
          <a:p>
            <a:pPr algn="ctr"/>
            <a:r>
              <a:rPr lang="es-ES" sz="1600" dirty="0"/>
              <a:t>Incluir variables laborales más específicas (sector, tipo de contrato, ubicación).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39535666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689</Words>
  <Application>Microsoft Office PowerPoint</Application>
  <PresentationFormat>Personalizado</PresentationFormat>
  <Paragraphs>74</Paragraphs>
  <Slides>8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Courier New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johan carrillo</dc:creator>
  <cp:lastModifiedBy>Manuela González</cp:lastModifiedBy>
  <cp:revision>6</cp:revision>
  <dcterms:modified xsi:type="dcterms:W3CDTF">2025-11-13T04:22:40Z</dcterms:modified>
</cp:coreProperties>
</file>